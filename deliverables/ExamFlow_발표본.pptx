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2" d="100"/>
          <a:sy n="162" d="100"/>
        </p:scale>
        <p:origin x="216"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614575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ExamFlow는 검사 예약 전 준비 확인과 일정 조정을 돕는 멀티 에이전트 데모입니다. 검사 예약은 단순히 빈 시간을 잡는 일이 아니라 의뢰 상태, 사전 확인표, 연락 가능 여부, 검사실 가용 시간을 같이 확인해야 하는 업무라고 판단했습니다. 그래서 모델은 설명과 제안을 담당하고, 기록 변경은 코드와 승인 절차가 통제하도록 설계했습니다.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구현 범위는 검사 예약 전 단계로 한정했습니다. 준비 확인 에이전트가 행정 접수 상태를 확인하고, 준비가 완료된 경우에만 일정 조정 에이전트가 가능한 시간을 제안합니다. 의료적 판단, 실제 예약 시스템 연동, 문자 발송, 장시간 부하 시험, 다중 인스턴스 운영은 이번 범위에서 제외했습니다.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전체 구조는 웹 UI, FastAPI 조정기, 준비 확인 에이전트, 일정 조정 에이전트, MCP 병원 도구 서버, SQLite 저장소입니다. 조정기는 준비 확인 에이전트를 먼저 호출하고, 준비가 완료된 경우에만 일정 조정 에이전트에 작업을 넘깁니다. 병원 데이터는 MCP 서버에서 조회하고, 예약 기록 도구는 LLM에 직접 노출하지 않고 승인 API 이후에만 호출되도록 했습니다.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대표 시나리오는 EX-1001입니다. 오후 예약 요청을 보내면 준비 확인 에이전트가 접수 완료와 시간 선호를 반환하고, 일정 조정 에이전트가 CT-PM 14시를 제안합니다. 이 단계에서는 아직 예약이 확정되지 않습니다. 담당자가 승인하면 서버가 상태와 세션을 다시 확인한 뒤 MCP 예약 도구를 호출해 confirmed 상태를 만듭니다.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프롬프트에서 가장 중요하게 본 부분은 사용자 요청을 그대로 믿지 않는 것입니다. 의뢰 상태와 행정 규칙을 evidence로 분리하고, 일정 조정은 조회된 후보 안에서만 slot을 고르게 했습니다. 실제 검증에서는 서류 미완료 사례에 지시 우회 입력을 넣었을 때 needs_input이 유지되는지 확인했습니다. 형식 오류나 환각 방어는 실제 발생한 문제와 테스트 주입으로 검증한 문제를 구분해 정리했습니다.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코딩 도구는 API와 UI 초안, SDK 사용법 확인, 테스트 케이스 초안, 문서 정리에 사용했습니다. 하지만 예약을 바꾸는 핵심 로직은 모델 판단에 맡기지 않았습니다. 준비 완료 전 일정 조정을 호출하지 않는 순서, 세션 소유권, 승인 가능 상태, slot 후보 검증, DB 유일성 제약은 코드로 고정했습니다.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이번 과제에서는 준비 확인, 일정 조정, 담당자 승인, 예약 기록까지 이어지는 흐름을 확인했습니다. 다만 제출용 데모이기 때문에 메모리와 로컬 SQLite 기반이고, 실제 운영을 위해서는 외부 DB, 작업 큐, 담당자 인증과 권한, 감사 로그, 병원별 규칙 승인 절차가 필요합니다. 결론적으로 ExamFlow는 모델이 제안하는 영역과 코드가 책임지는 영역을 분리한 병원 업무 자동화 데모입니다.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a:effectLst/>
      </p:bgPr>
    </p:bg>
    <p:spTree>
      <p:nvGrpSpPr>
        <p:cNvPr id="1" name=""/>
        <p:cNvGrpSpPr/>
        <p:nvPr/>
      </p:nvGrpSpPr>
      <p:grpSpPr>
        <a:xfrm>
          <a:off x="0" y="0"/>
          <a:ext cx="0" cy="0"/>
          <a:chOff x="0" y="0"/>
          <a:chExt cx="0" cy="0"/>
        </a:xfrm>
      </p:grpSpPr>
      <p:sp>
        <p:nvSpPr>
          <p:cNvPr id="3" name="Text 1"/>
          <p:cNvSpPr/>
          <p:nvPr/>
        </p:nvSpPr>
        <p:spPr>
          <a:xfrm>
            <a:off x="749808" y="685800"/>
            <a:ext cx="4754880" cy="658368"/>
          </a:xfrm>
          <a:prstGeom prst="rect">
            <a:avLst/>
          </a:prstGeom>
          <a:noFill/>
          <a:ln/>
        </p:spPr>
        <p:txBody>
          <a:bodyPr wrap="square" lIns="0" tIns="0" rIns="0" bIns="0" rtlCol="0" anchor="ctr"/>
          <a:lstStyle/>
          <a:p>
            <a:pPr marL="0" indent="0">
              <a:buNone/>
            </a:pPr>
            <a:r>
              <a:rPr lang="en-US" sz="3800" b="1" dirty="0">
                <a:solidFill>
                  <a:srgbClr val="14213D"/>
                </a:solidFill>
                <a:latin typeface="Noto Sans CJK KR" pitchFamily="34" charset="0"/>
                <a:ea typeface="Noto Sans CJK KR" pitchFamily="34" charset="-122"/>
                <a:cs typeface="Noto Sans CJK KR" pitchFamily="34" charset="-120"/>
              </a:rPr>
              <a:t>ExamFlow</a:t>
            </a:r>
            <a:endParaRPr lang="en-US" sz="3800" dirty="0"/>
          </a:p>
        </p:txBody>
      </p:sp>
      <p:sp>
        <p:nvSpPr>
          <p:cNvPr id="4" name="Text 2"/>
          <p:cNvSpPr/>
          <p:nvPr/>
        </p:nvSpPr>
        <p:spPr>
          <a:xfrm>
            <a:off x="786384" y="1408176"/>
            <a:ext cx="6035040" cy="320040"/>
          </a:xfrm>
          <a:prstGeom prst="rect">
            <a:avLst/>
          </a:prstGeom>
          <a:noFill/>
          <a:ln/>
        </p:spPr>
        <p:txBody>
          <a:bodyPr wrap="square" lIns="0" tIns="0" rIns="0" bIns="0" rtlCol="0" anchor="ctr"/>
          <a:lstStyle/>
          <a:p>
            <a:pPr marL="0" indent="0">
              <a:buNone/>
            </a:pPr>
            <a:r>
              <a:rPr lang="en-US" sz="1550" dirty="0">
                <a:solidFill>
                  <a:srgbClr val="334155"/>
                </a:solidFill>
                <a:latin typeface="Noto Sans CJK KR" pitchFamily="34" charset="0"/>
                <a:ea typeface="Noto Sans CJK KR" pitchFamily="34" charset="-122"/>
                <a:cs typeface="Noto Sans CJK KR" pitchFamily="34" charset="-120"/>
              </a:rPr>
              <a:t>검사 예약 전 준비 확인과 일정 조정을 돕는 멀티 에이전트 데모</a:t>
            </a:r>
            <a:endParaRPr lang="en-US" sz="1550" dirty="0"/>
          </a:p>
        </p:txBody>
      </p:sp>
      <p:sp>
        <p:nvSpPr>
          <p:cNvPr id="5" name="Shape 3"/>
          <p:cNvSpPr/>
          <p:nvPr/>
        </p:nvSpPr>
        <p:spPr>
          <a:xfrm>
            <a:off x="786384" y="1920240"/>
            <a:ext cx="5715000" cy="0"/>
          </a:xfrm>
          <a:prstGeom prst="line">
            <a:avLst/>
          </a:prstGeom>
          <a:noFill/>
          <a:ln w="26670">
            <a:solidFill>
              <a:srgbClr val="2563EB"/>
            </a:solidFill>
            <a:prstDash val="solid"/>
          </a:ln>
        </p:spPr>
      </p:sp>
      <p:sp>
        <p:nvSpPr>
          <p:cNvPr id="6" name="Text 4"/>
          <p:cNvSpPr/>
          <p:nvPr/>
        </p:nvSpPr>
        <p:spPr>
          <a:xfrm>
            <a:off x="786384" y="2267712"/>
            <a:ext cx="2926080" cy="256032"/>
          </a:xfrm>
          <a:prstGeom prst="rect">
            <a:avLst/>
          </a:prstGeom>
          <a:noFill/>
          <a:ln/>
        </p:spPr>
        <p:txBody>
          <a:bodyPr wrap="square" lIns="254" tIns="254" rIns="254" bIns="254" rtlCol="0" anchor="t">
            <a:normAutofit/>
          </a:bodyPr>
          <a:lstStyle/>
          <a:p>
            <a:pPr marL="0" indent="0" algn="l">
              <a:buNone/>
            </a:pPr>
            <a:r>
              <a:rPr lang="en-US" sz="1050" b="1" dirty="0">
                <a:solidFill>
                  <a:srgbClr val="2563EB"/>
                </a:solidFill>
                <a:latin typeface="Noto Sans CJK KR" pitchFamily="34" charset="0"/>
                <a:ea typeface="Noto Sans CJK KR" pitchFamily="34" charset="-122"/>
                <a:cs typeface="Noto Sans CJK KR" pitchFamily="34" charset="-120"/>
              </a:rPr>
              <a:t>왜 이 주제를 골랐는가</a:t>
            </a:r>
            <a:endParaRPr lang="en-US" sz="1050" dirty="0"/>
          </a:p>
        </p:txBody>
      </p:sp>
      <p:sp>
        <p:nvSpPr>
          <p:cNvPr id="7" name="Text 5"/>
          <p:cNvSpPr/>
          <p:nvPr/>
        </p:nvSpPr>
        <p:spPr>
          <a:xfrm>
            <a:off x="786384" y="2660904"/>
            <a:ext cx="5806440" cy="1554480"/>
          </a:xfrm>
          <a:prstGeom prst="rect">
            <a:avLst/>
          </a:prstGeom>
          <a:noFill/>
          <a:ln/>
        </p:spPr>
        <p:txBody>
          <a:bodyPr wrap="square" lIns="254" tIns="254" rIns="254" bIns="254" rtlCol="0" anchor="t">
            <a:normAutofit/>
          </a:bodyPr>
          <a:lstStyle/>
          <a:p>
            <a:pPr marL="0" indent="0" algn="l">
              <a:buNone/>
            </a:pPr>
            <a:r>
              <a:rPr lang="en-US" sz="1430" dirty="0">
                <a:solidFill>
                  <a:srgbClr val="14213D"/>
                </a:solidFill>
                <a:latin typeface="Noto Sans CJK KR" pitchFamily="34" charset="0"/>
                <a:ea typeface="Noto Sans CJK KR" pitchFamily="34" charset="-122"/>
                <a:cs typeface="Noto Sans CJK KR" pitchFamily="34" charset="-120"/>
              </a:rPr>
              <a:t>검사 예약은 단순히 빈 시간을 잡는 일이 아니었습니다. 의뢰 상태, 사전 확인표, 연락 가능 여부, 검사실 가용 시간을 함께 봐야 했습니다.</a:t>
            </a:r>
            <a:endParaRPr lang="en-US" sz="1430" dirty="0"/>
          </a:p>
          <a:p>
            <a:pPr marL="0" indent="0" algn="l">
              <a:buNone/>
            </a:pPr>
            <a:endParaRPr lang="en-US" sz="1430" dirty="0"/>
          </a:p>
          <a:p>
            <a:pPr marL="0" indent="0" algn="l">
              <a:buNone/>
            </a:pPr>
            <a:r>
              <a:rPr lang="en-US" sz="1430" dirty="0">
                <a:solidFill>
                  <a:srgbClr val="14213D"/>
                </a:solidFill>
                <a:latin typeface="Noto Sans CJK KR" pitchFamily="34" charset="0"/>
                <a:ea typeface="Noto Sans CJK KR" pitchFamily="34" charset="-122"/>
                <a:cs typeface="Noto Sans CJK KR" pitchFamily="34" charset="-120"/>
              </a:rPr>
              <a:t>그래서 이번 데모는 “모델이 설명하고 제안하되, 실제 기록 변경은 코드와 승인 절차가 통제하는 구조”를 보여주는 데 초점을 맞췄습니다.</a:t>
            </a:r>
            <a:endParaRPr lang="en-US" sz="1430" dirty="0"/>
          </a:p>
        </p:txBody>
      </p:sp>
      <p:sp>
        <p:nvSpPr>
          <p:cNvPr id="8" name="Text 6"/>
          <p:cNvSpPr/>
          <p:nvPr/>
        </p:nvSpPr>
        <p:spPr>
          <a:xfrm>
            <a:off x="7223760" y="960120"/>
            <a:ext cx="1920240" cy="603504"/>
          </a:xfrm>
          <a:prstGeom prst="rect">
            <a:avLst/>
          </a:prstGeom>
          <a:solidFill>
            <a:srgbClr val="EAF2FF"/>
          </a:solidFill>
          <a:ln w="12700">
            <a:solidFill>
              <a:srgbClr val="2563EB"/>
            </a:solidFill>
          </a:ln>
        </p:spPr>
        <p:txBody>
          <a:bodyPr wrap="square" lIns="1016" tIns="1016" rIns="1016" bIns="1016" rtlCol="0" anchor="ctr">
            <a:normAutofit/>
          </a:bodyPr>
          <a:lstStyle/>
          <a:p>
            <a:pPr marL="0" indent="0" algn="ctr">
              <a:buNone/>
            </a:pPr>
            <a:r>
              <a:rPr lang="en-US" sz="1400" b="1" dirty="0">
                <a:solidFill>
                  <a:srgbClr val="14213D"/>
                </a:solidFill>
                <a:latin typeface="Noto Sans CJK KR" pitchFamily="34" charset="0"/>
                <a:ea typeface="Noto Sans CJK KR" pitchFamily="34" charset="-122"/>
                <a:cs typeface="Noto Sans CJK KR" pitchFamily="34" charset="-120"/>
              </a:rPr>
              <a:t>준비 확인</a:t>
            </a:r>
            <a:endParaRPr lang="en-US" sz="1400" dirty="0"/>
          </a:p>
        </p:txBody>
      </p:sp>
      <p:sp>
        <p:nvSpPr>
          <p:cNvPr id="9" name="Text 7"/>
          <p:cNvSpPr/>
          <p:nvPr/>
        </p:nvSpPr>
        <p:spPr>
          <a:xfrm>
            <a:off x="7223760" y="2048256"/>
            <a:ext cx="1920240" cy="603504"/>
          </a:xfrm>
          <a:prstGeom prst="rect">
            <a:avLst/>
          </a:prstGeom>
          <a:solidFill>
            <a:srgbClr val="E9FBF7"/>
          </a:solidFill>
          <a:ln w="12700">
            <a:solidFill>
              <a:srgbClr val="14B8A6"/>
            </a:solidFill>
          </a:ln>
        </p:spPr>
        <p:txBody>
          <a:bodyPr wrap="square" lIns="1016" tIns="1016" rIns="1016" bIns="1016" rtlCol="0" anchor="ctr">
            <a:normAutofit/>
          </a:bodyPr>
          <a:lstStyle/>
          <a:p>
            <a:pPr marL="0" indent="0" algn="ctr">
              <a:buNone/>
            </a:pPr>
            <a:r>
              <a:rPr lang="en-US" sz="1400" b="1" dirty="0">
                <a:solidFill>
                  <a:srgbClr val="14213D"/>
                </a:solidFill>
                <a:latin typeface="Noto Sans CJK KR" pitchFamily="34" charset="0"/>
                <a:ea typeface="Noto Sans CJK KR" pitchFamily="34" charset="-122"/>
                <a:cs typeface="Noto Sans CJK KR" pitchFamily="34" charset="-120"/>
              </a:rPr>
              <a:t>일정 제안</a:t>
            </a:r>
            <a:endParaRPr lang="en-US" sz="1400" dirty="0"/>
          </a:p>
        </p:txBody>
      </p:sp>
      <p:sp>
        <p:nvSpPr>
          <p:cNvPr id="10" name="Text 8"/>
          <p:cNvSpPr/>
          <p:nvPr/>
        </p:nvSpPr>
        <p:spPr>
          <a:xfrm>
            <a:off x="7223760" y="3136392"/>
            <a:ext cx="1920240" cy="603504"/>
          </a:xfrm>
          <a:prstGeom prst="rect">
            <a:avLst/>
          </a:prstGeom>
          <a:solidFill>
            <a:srgbClr val="FFF7E6"/>
          </a:solidFill>
          <a:ln w="12700">
            <a:solidFill>
              <a:srgbClr val="F59E0B"/>
            </a:solidFill>
          </a:ln>
        </p:spPr>
        <p:txBody>
          <a:bodyPr wrap="square" lIns="1016" tIns="1016" rIns="1016" bIns="1016" rtlCol="0" anchor="ctr">
            <a:normAutofit/>
          </a:bodyPr>
          <a:lstStyle/>
          <a:p>
            <a:pPr marL="0" indent="0" algn="ctr">
              <a:buNone/>
            </a:pPr>
            <a:r>
              <a:rPr lang="en-US" sz="1400" b="1" dirty="0">
                <a:solidFill>
                  <a:srgbClr val="14213D"/>
                </a:solidFill>
                <a:latin typeface="Noto Sans CJK KR" pitchFamily="34" charset="0"/>
                <a:ea typeface="Noto Sans CJK KR" pitchFamily="34" charset="-122"/>
                <a:cs typeface="Noto Sans CJK KR" pitchFamily="34" charset="-120"/>
              </a:rPr>
              <a:t>담당자 승인</a:t>
            </a:r>
            <a:endParaRPr lang="en-US" sz="1400" dirty="0"/>
          </a:p>
        </p:txBody>
      </p:sp>
      <p:sp>
        <p:nvSpPr>
          <p:cNvPr id="11" name="Text 9"/>
          <p:cNvSpPr/>
          <p:nvPr/>
        </p:nvSpPr>
        <p:spPr>
          <a:xfrm>
            <a:off x="7223760" y="4224528"/>
            <a:ext cx="1920240" cy="603504"/>
          </a:xfrm>
          <a:prstGeom prst="rect">
            <a:avLst/>
          </a:prstGeom>
          <a:solidFill>
            <a:srgbClr val="FFFFFF"/>
          </a:solidFill>
          <a:ln w="12700">
            <a:solidFill>
              <a:srgbClr val="14213D"/>
            </a:solidFill>
          </a:ln>
        </p:spPr>
        <p:txBody>
          <a:bodyPr wrap="square" lIns="1016" tIns="1016" rIns="1016" bIns="1016" rtlCol="0" anchor="ctr">
            <a:normAutofit/>
          </a:bodyPr>
          <a:lstStyle/>
          <a:p>
            <a:pPr marL="0" indent="0" algn="ctr">
              <a:buNone/>
            </a:pPr>
            <a:r>
              <a:rPr lang="en-US" sz="1400" b="1" dirty="0">
                <a:solidFill>
                  <a:srgbClr val="14213D"/>
                </a:solidFill>
                <a:latin typeface="Noto Sans CJK KR" pitchFamily="34" charset="0"/>
                <a:ea typeface="Noto Sans CJK KR" pitchFamily="34" charset="-122"/>
                <a:cs typeface="Noto Sans CJK KR" pitchFamily="34" charset="-120"/>
              </a:rPr>
              <a:t>예약 기록</a:t>
            </a:r>
            <a:endParaRPr lang="en-US" sz="1400" dirty="0"/>
          </a:p>
        </p:txBody>
      </p:sp>
      <p:sp>
        <p:nvSpPr>
          <p:cNvPr id="12" name="Shape 10"/>
          <p:cNvSpPr/>
          <p:nvPr/>
        </p:nvSpPr>
        <p:spPr>
          <a:xfrm>
            <a:off x="8183880" y="1581912"/>
            <a:ext cx="0" cy="448056"/>
          </a:xfrm>
          <a:prstGeom prst="line">
            <a:avLst/>
          </a:prstGeom>
          <a:noFill/>
          <a:ln w="17780">
            <a:solidFill>
              <a:srgbClr val="64748B"/>
            </a:solidFill>
            <a:prstDash val="solid"/>
            <a:headEnd type="none"/>
            <a:tailEnd type="triangle"/>
          </a:ln>
        </p:spPr>
      </p:sp>
      <p:sp>
        <p:nvSpPr>
          <p:cNvPr id="13" name="Shape 11"/>
          <p:cNvSpPr/>
          <p:nvPr/>
        </p:nvSpPr>
        <p:spPr>
          <a:xfrm>
            <a:off x="8183880" y="2670048"/>
            <a:ext cx="0" cy="448056"/>
          </a:xfrm>
          <a:prstGeom prst="line">
            <a:avLst/>
          </a:prstGeom>
          <a:noFill/>
          <a:ln w="17780">
            <a:solidFill>
              <a:srgbClr val="64748B"/>
            </a:solidFill>
            <a:prstDash val="solid"/>
            <a:headEnd type="none"/>
            <a:tailEnd type="triangle"/>
          </a:ln>
        </p:spPr>
      </p:sp>
      <p:sp>
        <p:nvSpPr>
          <p:cNvPr id="14" name="Shape 12"/>
          <p:cNvSpPr/>
          <p:nvPr/>
        </p:nvSpPr>
        <p:spPr>
          <a:xfrm>
            <a:off x="8183880" y="3758184"/>
            <a:ext cx="0" cy="448056"/>
          </a:xfrm>
          <a:prstGeom prst="line">
            <a:avLst/>
          </a:prstGeom>
          <a:noFill/>
          <a:ln w="17780">
            <a:solidFill>
              <a:srgbClr val="64748B"/>
            </a:solidFill>
            <a:prstDash val="solid"/>
            <a:headEnd type="none"/>
            <a:tailEnd type="triangle"/>
          </a:ln>
        </p:spPr>
      </p:sp>
      <p:sp>
        <p:nvSpPr>
          <p:cNvPr id="15" name="Text 13"/>
          <p:cNvSpPr/>
          <p:nvPr/>
        </p:nvSpPr>
        <p:spPr>
          <a:xfrm>
            <a:off x="6537960" y="5212080"/>
            <a:ext cx="3291840" cy="256032"/>
          </a:xfrm>
          <a:prstGeom prst="rect">
            <a:avLst/>
          </a:prstGeom>
          <a:noFill/>
          <a:ln/>
        </p:spPr>
        <p:txBody>
          <a:bodyPr wrap="square" lIns="254" tIns="254" rIns="254" bIns="254" rtlCol="0" anchor="t">
            <a:normAutofit/>
          </a:bodyPr>
          <a:lstStyle/>
          <a:p>
            <a:pPr marL="0" indent="0" algn="ctr">
              <a:buNone/>
            </a:pPr>
            <a:r>
              <a:rPr lang="ko-KR" altLang="en-US" sz="1050" dirty="0" err="1">
                <a:solidFill>
                  <a:srgbClr val="64748B"/>
                </a:solidFill>
                <a:latin typeface="Noto Sans CJK KR" pitchFamily="34" charset="0"/>
                <a:ea typeface="Noto Sans CJK KR" pitchFamily="34" charset="-122"/>
                <a:cs typeface="Noto Sans CJK KR" pitchFamily="34" charset="-120"/>
              </a:rPr>
              <a:t>목업</a:t>
            </a:r>
            <a:r>
              <a:rPr lang="ko-KR" altLang="en-US" sz="1050" dirty="0">
                <a:solidFill>
                  <a:srgbClr val="64748B"/>
                </a:solidFill>
                <a:latin typeface="Noto Sans CJK KR" pitchFamily="34" charset="0"/>
                <a:ea typeface="Noto Sans CJK KR" pitchFamily="34" charset="-122"/>
                <a:cs typeface="Noto Sans CJK KR" pitchFamily="34" charset="-120"/>
              </a:rPr>
              <a:t> </a:t>
            </a:r>
            <a:r>
              <a:rPr lang="en-US" sz="1050" dirty="0" err="1">
                <a:solidFill>
                  <a:srgbClr val="64748B"/>
                </a:solidFill>
                <a:latin typeface="Noto Sans CJK KR" pitchFamily="34" charset="0"/>
                <a:ea typeface="Noto Sans CJK KR" pitchFamily="34" charset="-122"/>
                <a:cs typeface="Noto Sans CJK KR" pitchFamily="34" charset="-120"/>
              </a:rPr>
              <a:t>기반</a:t>
            </a:r>
            <a:r>
              <a:rPr lang="en-US" sz="1050" dirty="0">
                <a:solidFill>
                  <a:srgbClr val="64748B"/>
                </a:solidFill>
                <a:latin typeface="Noto Sans CJK KR" pitchFamily="34" charset="0"/>
                <a:ea typeface="Noto Sans CJK KR" pitchFamily="34" charset="-122"/>
                <a:cs typeface="Noto Sans CJK KR" pitchFamily="34" charset="-120"/>
              </a:rPr>
              <a:t> </a:t>
            </a:r>
            <a:r>
              <a:rPr lang="ko-KR" altLang="en-US" sz="1050" dirty="0">
                <a:solidFill>
                  <a:srgbClr val="64748B"/>
                </a:solidFill>
                <a:latin typeface="Noto Sans CJK KR" pitchFamily="34" charset="0"/>
                <a:ea typeface="Noto Sans CJK KR" pitchFamily="34" charset="-122"/>
                <a:cs typeface="Noto Sans CJK KR" pitchFamily="34" charset="-120"/>
              </a:rPr>
              <a:t>데모</a:t>
            </a:r>
            <a:endParaRPr lang="en-US" sz="1050" dirty="0"/>
          </a:p>
        </p:txBody>
      </p:sp>
      <p:sp>
        <p:nvSpPr>
          <p:cNvPr id="17" name="Text 15"/>
          <p:cNvSpPr/>
          <p:nvPr/>
        </p:nvSpPr>
        <p:spPr>
          <a:xfrm>
            <a:off x="10561320" y="6446520"/>
            <a:ext cx="1051560" cy="164592"/>
          </a:xfrm>
          <a:prstGeom prst="rect">
            <a:avLst/>
          </a:prstGeom>
          <a:noFill/>
          <a:ln/>
        </p:spPr>
        <p:txBody>
          <a:bodyPr wrap="square" lIns="0" tIns="0" rIns="0" bIns="0" rtlCol="0" anchor="ctr"/>
          <a:lstStyle/>
          <a:p>
            <a:pPr marL="0" indent="0" algn="r">
              <a:buNone/>
            </a:pPr>
            <a:r>
              <a:rPr lang="en-US" sz="750" dirty="0">
                <a:solidFill>
                  <a:srgbClr val="64748B"/>
                </a:solidFill>
                <a:latin typeface="Noto Sans CJK KR" pitchFamily="34" charset="0"/>
                <a:ea typeface="Noto Sans CJK KR" pitchFamily="34" charset="-122"/>
                <a:cs typeface="Noto Sans CJK KR" pitchFamily="34" charset="-120"/>
              </a:rPr>
              <a:t>ExamFlow · 1/7</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4213D"/>
          </a:solidFill>
          <a:ln w="12700">
            <a:solidFill>
              <a:srgbClr val="14213D"/>
            </a:solidFill>
            <a:prstDash val="solid"/>
          </a:ln>
        </p:spPr>
      </p:sp>
      <p:sp>
        <p:nvSpPr>
          <p:cNvPr id="3" name="Shape 1"/>
          <p:cNvSpPr/>
          <p:nvPr/>
        </p:nvSpPr>
        <p:spPr>
          <a:xfrm>
            <a:off x="0" y="6729984"/>
            <a:ext cx="12191695" cy="128016"/>
          </a:xfrm>
          <a:prstGeom prst="rect">
            <a:avLst/>
          </a:prstGeom>
          <a:solidFill>
            <a:srgbClr val="14213D"/>
          </a:solidFill>
          <a:ln w="12700">
            <a:solidFill>
              <a:srgbClr val="14213D"/>
            </a:solidFill>
            <a:prstDash val="solid"/>
          </a:ln>
        </p:spPr>
      </p:sp>
      <p:sp>
        <p:nvSpPr>
          <p:cNvPr id="4" name="Text 2"/>
          <p:cNvSpPr/>
          <p:nvPr/>
        </p:nvSpPr>
        <p:spPr>
          <a:xfrm>
            <a:off x="566928" y="384048"/>
            <a:ext cx="3840480" cy="228600"/>
          </a:xfrm>
          <a:prstGeom prst="rect">
            <a:avLst/>
          </a:prstGeom>
          <a:noFill/>
          <a:ln/>
        </p:spPr>
        <p:txBody>
          <a:bodyPr wrap="square" lIns="0" tIns="0" rIns="0" bIns="0" rtlCol="0" anchor="ctr"/>
          <a:lstStyle/>
          <a:p>
            <a:pPr marL="0" indent="0">
              <a:buNone/>
            </a:pPr>
            <a:r>
              <a:rPr lang="en-US" sz="1000" b="1" dirty="0">
                <a:solidFill>
                  <a:srgbClr val="2563EB"/>
                </a:solidFill>
                <a:latin typeface="Noto Sans CJK KR" pitchFamily="34" charset="0"/>
                <a:ea typeface="Noto Sans CJK KR" pitchFamily="34" charset="-122"/>
                <a:cs typeface="Noto Sans CJK KR" pitchFamily="34" charset="-120"/>
              </a:rPr>
              <a:t>01 · Problem Scope</a:t>
            </a:r>
            <a:endParaRPr lang="en-US" sz="1000" dirty="0"/>
          </a:p>
        </p:txBody>
      </p:sp>
      <p:sp>
        <p:nvSpPr>
          <p:cNvPr id="5" name="Text 3"/>
          <p:cNvSpPr/>
          <p:nvPr/>
        </p:nvSpPr>
        <p:spPr>
          <a:xfrm>
            <a:off x="566928" y="676656"/>
            <a:ext cx="11064240" cy="457200"/>
          </a:xfrm>
          <a:prstGeom prst="rect">
            <a:avLst/>
          </a:prstGeom>
          <a:noFill/>
          <a:ln/>
        </p:spPr>
        <p:txBody>
          <a:bodyPr wrap="square" lIns="0" tIns="0" rIns="0" bIns="0" rtlCol="0" anchor="ctr">
            <a:normAutofit/>
          </a:bodyPr>
          <a:lstStyle/>
          <a:p>
            <a:pPr marL="0" indent="0">
              <a:buNone/>
            </a:pPr>
            <a:r>
              <a:rPr lang="en-US" sz="2350" b="1" dirty="0">
                <a:solidFill>
                  <a:srgbClr val="14213D"/>
                </a:solidFill>
                <a:latin typeface="Noto Sans CJK KR" pitchFamily="34" charset="0"/>
                <a:ea typeface="Noto Sans CJK KR" pitchFamily="34" charset="-122"/>
                <a:cs typeface="Noto Sans CJK KR" pitchFamily="34" charset="-120"/>
              </a:rPr>
              <a:t>문제 정의: 어디까지 자동화할지 먼저 정했습니다</a:t>
            </a:r>
            <a:endParaRPr lang="en-US" sz="2350" dirty="0"/>
          </a:p>
        </p:txBody>
      </p:sp>
      <p:sp>
        <p:nvSpPr>
          <p:cNvPr id="6" name="Text 4"/>
          <p:cNvSpPr/>
          <p:nvPr/>
        </p:nvSpPr>
        <p:spPr>
          <a:xfrm>
            <a:off x="685800" y="1417320"/>
            <a:ext cx="2011680" cy="256032"/>
          </a:xfrm>
          <a:prstGeom prst="rect">
            <a:avLst/>
          </a:prstGeom>
          <a:noFill/>
          <a:ln/>
        </p:spPr>
        <p:txBody>
          <a:bodyPr wrap="square" lIns="254" tIns="254" rIns="254" bIns="254" rtlCol="0" anchor="t">
            <a:normAutofit/>
          </a:bodyPr>
          <a:lstStyle/>
          <a:p>
            <a:pPr marL="0" indent="0" algn="l">
              <a:buNone/>
            </a:pPr>
            <a:r>
              <a:rPr lang="en-US" sz="1050" b="1" dirty="0">
                <a:solidFill>
                  <a:srgbClr val="2563EB"/>
                </a:solidFill>
                <a:latin typeface="Noto Sans CJK KR" pitchFamily="34" charset="0"/>
                <a:ea typeface="Noto Sans CJK KR" pitchFamily="34" charset="-122"/>
                <a:cs typeface="Noto Sans CJK KR" pitchFamily="34" charset="-120"/>
              </a:rPr>
              <a:t>구현한 흐름</a:t>
            </a:r>
            <a:endParaRPr lang="en-US" sz="1050" dirty="0"/>
          </a:p>
        </p:txBody>
      </p:sp>
      <p:sp>
        <p:nvSpPr>
          <p:cNvPr id="7" name="Text 5"/>
          <p:cNvSpPr/>
          <p:nvPr/>
        </p:nvSpPr>
        <p:spPr>
          <a:xfrm>
            <a:off x="731520" y="1847088"/>
            <a:ext cx="1481328" cy="438912"/>
          </a:xfrm>
          <a:prstGeom prst="rect">
            <a:avLst/>
          </a:prstGeom>
          <a:solidFill>
            <a:srgbClr val="FFFFFF"/>
          </a:solidFill>
          <a:ln w="12700">
            <a:solidFill>
              <a:srgbClr val="CBD5E1"/>
            </a:solidFill>
          </a:ln>
        </p:spPr>
        <p:txBody>
          <a:bodyPr wrap="square" lIns="1016" tIns="1016" rIns="1016" bIns="1016" rtlCol="0" anchor="ctr">
            <a:normAutofit/>
          </a:bodyPr>
          <a:lstStyle/>
          <a:p>
            <a:pPr marL="0" indent="0" algn="ctr">
              <a:buNone/>
            </a:pPr>
            <a:r>
              <a:rPr lang="en-US" sz="1120" b="1" dirty="0">
                <a:solidFill>
                  <a:srgbClr val="14213D"/>
                </a:solidFill>
                <a:latin typeface="Noto Sans CJK KR" pitchFamily="34" charset="0"/>
                <a:ea typeface="Noto Sans CJK KR" pitchFamily="34" charset="-122"/>
                <a:cs typeface="Noto Sans CJK KR" pitchFamily="34" charset="-120"/>
              </a:rPr>
              <a:t>요청 입력</a:t>
            </a:r>
            <a:endParaRPr lang="en-US" sz="1120" dirty="0"/>
          </a:p>
        </p:txBody>
      </p:sp>
      <p:sp>
        <p:nvSpPr>
          <p:cNvPr id="8" name="Text 6"/>
          <p:cNvSpPr/>
          <p:nvPr/>
        </p:nvSpPr>
        <p:spPr>
          <a:xfrm>
            <a:off x="731520" y="2404872"/>
            <a:ext cx="1481328" cy="548640"/>
          </a:xfrm>
          <a:prstGeom prst="rect">
            <a:avLst/>
          </a:prstGeom>
          <a:noFill/>
          <a:ln/>
        </p:spPr>
        <p:txBody>
          <a:bodyPr wrap="square" lIns="254" tIns="254" rIns="254" bIns="254" rtlCol="0" anchor="t">
            <a:normAutofit/>
          </a:bodyPr>
          <a:lstStyle/>
          <a:p>
            <a:pPr marL="0" indent="0" algn="ctr">
              <a:buNone/>
            </a:pPr>
            <a:r>
              <a:rPr lang="en-US" sz="1020" dirty="0">
                <a:solidFill>
                  <a:srgbClr val="334155"/>
                </a:solidFill>
                <a:latin typeface="Noto Sans CJK KR" pitchFamily="34" charset="0"/>
                <a:ea typeface="Noto Sans CJK KR" pitchFamily="34" charset="-122"/>
                <a:cs typeface="Noto Sans CJK KR" pitchFamily="34" charset="-120"/>
              </a:rPr>
              <a:t>EX-1001</a:t>
            </a:r>
            <a:endParaRPr lang="en-US" sz="1020" dirty="0"/>
          </a:p>
          <a:p>
            <a:pPr marL="0" indent="0" algn="ctr">
              <a:buNone/>
            </a:pPr>
            <a:r>
              <a:rPr lang="en-US" sz="1020" dirty="0">
                <a:solidFill>
                  <a:srgbClr val="334155"/>
                </a:solidFill>
                <a:latin typeface="Noto Sans CJK KR" pitchFamily="34" charset="0"/>
                <a:ea typeface="Noto Sans CJK KR" pitchFamily="34" charset="-122"/>
                <a:cs typeface="Noto Sans CJK KR" pitchFamily="34" charset="-120"/>
              </a:rPr>
              <a:t>“</a:t>
            </a:r>
            <a:r>
              <a:rPr lang="en-US" sz="1020" dirty="0" err="1">
                <a:solidFill>
                  <a:srgbClr val="334155"/>
                </a:solidFill>
                <a:latin typeface="Noto Sans CJK KR" pitchFamily="34" charset="0"/>
                <a:ea typeface="Noto Sans CJK KR" pitchFamily="34" charset="-122"/>
                <a:cs typeface="Noto Sans CJK KR" pitchFamily="34" charset="-120"/>
              </a:rPr>
              <a:t>오후</a:t>
            </a:r>
            <a:r>
              <a:rPr lang="en-US" sz="1020" dirty="0">
                <a:solidFill>
                  <a:srgbClr val="334155"/>
                </a:solidFill>
                <a:latin typeface="Noto Sans CJK KR" pitchFamily="34" charset="0"/>
                <a:ea typeface="Noto Sans CJK KR" pitchFamily="34" charset="-122"/>
                <a:cs typeface="Noto Sans CJK KR" pitchFamily="34" charset="-120"/>
              </a:rPr>
              <a:t> 예약”</a:t>
            </a:r>
            <a:endParaRPr lang="en-US" sz="1020" dirty="0"/>
          </a:p>
        </p:txBody>
      </p:sp>
      <p:sp>
        <p:nvSpPr>
          <p:cNvPr id="9" name="Shape 7"/>
          <p:cNvSpPr/>
          <p:nvPr/>
        </p:nvSpPr>
        <p:spPr>
          <a:xfrm>
            <a:off x="2313432" y="2057400"/>
            <a:ext cx="301752" cy="0"/>
          </a:xfrm>
          <a:prstGeom prst="line">
            <a:avLst/>
          </a:prstGeom>
          <a:noFill/>
          <a:ln w="15240">
            <a:solidFill>
              <a:srgbClr val="64748B"/>
            </a:solidFill>
            <a:prstDash val="solid"/>
            <a:headEnd type="none"/>
            <a:tailEnd type="triangle"/>
          </a:ln>
        </p:spPr>
      </p:sp>
      <p:sp>
        <p:nvSpPr>
          <p:cNvPr id="10" name="Text 8"/>
          <p:cNvSpPr/>
          <p:nvPr/>
        </p:nvSpPr>
        <p:spPr>
          <a:xfrm>
            <a:off x="2761488" y="1847088"/>
            <a:ext cx="1481328" cy="438912"/>
          </a:xfrm>
          <a:prstGeom prst="rect">
            <a:avLst/>
          </a:prstGeom>
          <a:solidFill>
            <a:srgbClr val="EAF2FF"/>
          </a:solidFill>
          <a:ln w="12700">
            <a:solidFill>
              <a:srgbClr val="2563EB"/>
            </a:solidFill>
          </a:ln>
        </p:spPr>
        <p:txBody>
          <a:bodyPr wrap="square" lIns="1016" tIns="1016" rIns="1016" bIns="1016" rtlCol="0" anchor="ctr">
            <a:normAutofit/>
          </a:bodyPr>
          <a:lstStyle/>
          <a:p>
            <a:pPr marL="0" indent="0" algn="ctr">
              <a:buNone/>
            </a:pPr>
            <a:r>
              <a:rPr lang="en-US" sz="1120" b="1" dirty="0">
                <a:solidFill>
                  <a:srgbClr val="14213D"/>
                </a:solidFill>
                <a:latin typeface="Noto Sans CJK KR" pitchFamily="34" charset="0"/>
                <a:ea typeface="Noto Sans CJK KR" pitchFamily="34" charset="-122"/>
                <a:cs typeface="Noto Sans CJK KR" pitchFamily="34" charset="-120"/>
              </a:rPr>
              <a:t>준비 상태 확인</a:t>
            </a:r>
            <a:endParaRPr lang="en-US" sz="1120" dirty="0"/>
          </a:p>
        </p:txBody>
      </p:sp>
      <p:sp>
        <p:nvSpPr>
          <p:cNvPr id="11" name="Text 9"/>
          <p:cNvSpPr/>
          <p:nvPr/>
        </p:nvSpPr>
        <p:spPr>
          <a:xfrm>
            <a:off x="2761488" y="2404872"/>
            <a:ext cx="1481328" cy="548640"/>
          </a:xfrm>
          <a:prstGeom prst="rect">
            <a:avLst/>
          </a:prstGeom>
          <a:noFill/>
          <a:ln/>
        </p:spPr>
        <p:txBody>
          <a:bodyPr wrap="square" lIns="254" tIns="254" rIns="254" bIns="254" rtlCol="0" anchor="t">
            <a:normAutofit/>
          </a:bodyPr>
          <a:lstStyle/>
          <a:p>
            <a:pPr marL="0" indent="0" algn="ctr">
              <a:buNone/>
            </a:pPr>
            <a:r>
              <a:rPr lang="en-US" sz="1020" dirty="0">
                <a:solidFill>
                  <a:srgbClr val="334155"/>
                </a:solidFill>
                <a:latin typeface="Noto Sans CJK KR" pitchFamily="34" charset="0"/>
                <a:ea typeface="Noto Sans CJK KR" pitchFamily="34" charset="-122"/>
                <a:cs typeface="Noto Sans CJK KR" pitchFamily="34" charset="-120"/>
              </a:rPr>
              <a:t>의뢰·연락처</a:t>
            </a:r>
            <a:endParaRPr lang="en-US" sz="1020" dirty="0"/>
          </a:p>
          <a:p>
            <a:pPr marL="0" indent="0" algn="ctr">
              <a:buNone/>
            </a:pPr>
            <a:r>
              <a:rPr lang="en-US" sz="1020" dirty="0">
                <a:solidFill>
                  <a:srgbClr val="334155"/>
                </a:solidFill>
                <a:latin typeface="Noto Sans CJK KR" pitchFamily="34" charset="0"/>
                <a:ea typeface="Noto Sans CJK KR" pitchFamily="34" charset="-122"/>
                <a:cs typeface="Noto Sans CJK KR" pitchFamily="34" charset="-120"/>
              </a:rPr>
              <a:t>사전 확인표</a:t>
            </a:r>
            <a:endParaRPr lang="en-US" sz="1020" dirty="0"/>
          </a:p>
        </p:txBody>
      </p:sp>
      <p:sp>
        <p:nvSpPr>
          <p:cNvPr id="12" name="Shape 10"/>
          <p:cNvSpPr/>
          <p:nvPr/>
        </p:nvSpPr>
        <p:spPr>
          <a:xfrm>
            <a:off x="4343400" y="2057400"/>
            <a:ext cx="301752" cy="0"/>
          </a:xfrm>
          <a:prstGeom prst="line">
            <a:avLst/>
          </a:prstGeom>
          <a:noFill/>
          <a:ln w="15240">
            <a:solidFill>
              <a:srgbClr val="64748B"/>
            </a:solidFill>
            <a:prstDash val="solid"/>
            <a:headEnd type="none"/>
            <a:tailEnd type="triangle"/>
          </a:ln>
        </p:spPr>
      </p:sp>
      <p:sp>
        <p:nvSpPr>
          <p:cNvPr id="13" name="Text 11"/>
          <p:cNvSpPr/>
          <p:nvPr/>
        </p:nvSpPr>
        <p:spPr>
          <a:xfrm>
            <a:off x="4791456" y="1847088"/>
            <a:ext cx="1481328" cy="438912"/>
          </a:xfrm>
          <a:prstGeom prst="rect">
            <a:avLst/>
          </a:prstGeom>
          <a:solidFill>
            <a:srgbClr val="E9FBF7"/>
          </a:solidFill>
          <a:ln w="12700">
            <a:solidFill>
              <a:srgbClr val="14B8A6"/>
            </a:solidFill>
          </a:ln>
        </p:spPr>
        <p:txBody>
          <a:bodyPr wrap="square" lIns="1016" tIns="1016" rIns="1016" bIns="1016" rtlCol="0" anchor="ctr">
            <a:normAutofit/>
          </a:bodyPr>
          <a:lstStyle/>
          <a:p>
            <a:pPr marL="0" indent="0" algn="ctr">
              <a:buNone/>
            </a:pPr>
            <a:r>
              <a:rPr lang="en-US" sz="1120" b="1" dirty="0">
                <a:solidFill>
                  <a:srgbClr val="14213D"/>
                </a:solidFill>
                <a:latin typeface="Noto Sans CJK KR" pitchFamily="34" charset="0"/>
                <a:ea typeface="Noto Sans CJK KR" pitchFamily="34" charset="-122"/>
                <a:cs typeface="Noto Sans CJK KR" pitchFamily="34" charset="-120"/>
              </a:rPr>
              <a:t>가용 시간 조회</a:t>
            </a:r>
            <a:endParaRPr lang="en-US" sz="1120" dirty="0"/>
          </a:p>
        </p:txBody>
      </p:sp>
      <p:sp>
        <p:nvSpPr>
          <p:cNvPr id="14" name="Text 12"/>
          <p:cNvSpPr/>
          <p:nvPr/>
        </p:nvSpPr>
        <p:spPr>
          <a:xfrm>
            <a:off x="4791456" y="2404872"/>
            <a:ext cx="1481328" cy="548640"/>
          </a:xfrm>
          <a:prstGeom prst="rect">
            <a:avLst/>
          </a:prstGeom>
          <a:noFill/>
          <a:ln/>
        </p:spPr>
        <p:txBody>
          <a:bodyPr wrap="square" lIns="254" tIns="254" rIns="254" bIns="254" rtlCol="0" anchor="t">
            <a:normAutofit/>
          </a:bodyPr>
          <a:lstStyle/>
          <a:p>
            <a:pPr marL="0" indent="0" algn="ctr">
              <a:buNone/>
            </a:pPr>
            <a:r>
              <a:rPr lang="en-US" sz="1020" dirty="0">
                <a:solidFill>
                  <a:srgbClr val="334155"/>
                </a:solidFill>
                <a:latin typeface="Noto Sans CJK KR" pitchFamily="34" charset="0"/>
                <a:ea typeface="Noto Sans CJK KR" pitchFamily="34" charset="-122"/>
                <a:cs typeface="Noto Sans CJK KR" pitchFamily="34" charset="-120"/>
              </a:rPr>
              <a:t>선호 조건에 맞는</a:t>
            </a:r>
            <a:endParaRPr lang="en-US" sz="1020" dirty="0"/>
          </a:p>
          <a:p>
            <a:pPr marL="0" indent="0" algn="ctr">
              <a:buNone/>
            </a:pPr>
            <a:r>
              <a:rPr lang="en-US" sz="1020" dirty="0">
                <a:solidFill>
                  <a:srgbClr val="334155"/>
                </a:solidFill>
                <a:latin typeface="Noto Sans CJK KR" pitchFamily="34" charset="0"/>
                <a:ea typeface="Noto Sans CJK KR" pitchFamily="34" charset="-122"/>
                <a:cs typeface="Noto Sans CJK KR" pitchFamily="34" charset="-120"/>
              </a:rPr>
              <a:t>slot 후보</a:t>
            </a:r>
            <a:endParaRPr lang="en-US" sz="1020" dirty="0"/>
          </a:p>
        </p:txBody>
      </p:sp>
      <p:sp>
        <p:nvSpPr>
          <p:cNvPr id="15" name="Shape 13"/>
          <p:cNvSpPr/>
          <p:nvPr/>
        </p:nvSpPr>
        <p:spPr>
          <a:xfrm>
            <a:off x="6373368" y="2057400"/>
            <a:ext cx="301752" cy="0"/>
          </a:xfrm>
          <a:prstGeom prst="line">
            <a:avLst/>
          </a:prstGeom>
          <a:noFill/>
          <a:ln w="15240">
            <a:solidFill>
              <a:srgbClr val="64748B"/>
            </a:solidFill>
            <a:prstDash val="solid"/>
            <a:headEnd type="none"/>
            <a:tailEnd type="triangle"/>
          </a:ln>
        </p:spPr>
      </p:sp>
      <p:sp>
        <p:nvSpPr>
          <p:cNvPr id="16" name="Text 14"/>
          <p:cNvSpPr/>
          <p:nvPr/>
        </p:nvSpPr>
        <p:spPr>
          <a:xfrm>
            <a:off x="6821424" y="1847088"/>
            <a:ext cx="1481328" cy="438912"/>
          </a:xfrm>
          <a:prstGeom prst="rect">
            <a:avLst/>
          </a:prstGeom>
          <a:solidFill>
            <a:srgbClr val="FFF7E6"/>
          </a:solidFill>
          <a:ln w="12700">
            <a:solidFill>
              <a:srgbClr val="F59E0B"/>
            </a:solidFill>
          </a:ln>
        </p:spPr>
        <p:txBody>
          <a:bodyPr wrap="square" lIns="1016" tIns="1016" rIns="1016" bIns="1016" rtlCol="0" anchor="ctr">
            <a:normAutofit/>
          </a:bodyPr>
          <a:lstStyle/>
          <a:p>
            <a:pPr marL="0" indent="0" algn="ctr">
              <a:buNone/>
            </a:pPr>
            <a:r>
              <a:rPr lang="en-US" sz="1120" b="1" dirty="0">
                <a:solidFill>
                  <a:srgbClr val="14213D"/>
                </a:solidFill>
                <a:latin typeface="Noto Sans CJK KR" pitchFamily="34" charset="0"/>
                <a:ea typeface="Noto Sans CJK KR" pitchFamily="34" charset="-122"/>
                <a:cs typeface="Noto Sans CJK KR" pitchFamily="34" charset="-120"/>
              </a:rPr>
              <a:t>담당자 승인</a:t>
            </a:r>
            <a:endParaRPr lang="en-US" sz="1120" dirty="0"/>
          </a:p>
        </p:txBody>
      </p:sp>
      <p:sp>
        <p:nvSpPr>
          <p:cNvPr id="17" name="Text 15"/>
          <p:cNvSpPr/>
          <p:nvPr/>
        </p:nvSpPr>
        <p:spPr>
          <a:xfrm>
            <a:off x="6821424" y="2404872"/>
            <a:ext cx="1481328" cy="548640"/>
          </a:xfrm>
          <a:prstGeom prst="rect">
            <a:avLst/>
          </a:prstGeom>
          <a:noFill/>
          <a:ln/>
        </p:spPr>
        <p:txBody>
          <a:bodyPr wrap="square" lIns="254" tIns="254" rIns="254" bIns="254" rtlCol="0" anchor="t">
            <a:normAutofit/>
          </a:bodyPr>
          <a:lstStyle/>
          <a:p>
            <a:pPr marL="0" indent="0" algn="ctr">
              <a:buNone/>
            </a:pPr>
            <a:r>
              <a:rPr lang="en-US" sz="1020" dirty="0">
                <a:solidFill>
                  <a:srgbClr val="334155"/>
                </a:solidFill>
                <a:latin typeface="Noto Sans CJK KR" pitchFamily="34" charset="0"/>
                <a:ea typeface="Noto Sans CJK KR" pitchFamily="34" charset="-122"/>
                <a:cs typeface="Noto Sans CJK KR" pitchFamily="34" charset="-120"/>
              </a:rPr>
              <a:t>근거 확인 후</a:t>
            </a:r>
            <a:endParaRPr lang="en-US" sz="1020" dirty="0"/>
          </a:p>
          <a:p>
            <a:pPr marL="0" indent="0" algn="ctr">
              <a:buNone/>
            </a:pPr>
            <a:r>
              <a:rPr lang="en-US" sz="1020" dirty="0">
                <a:solidFill>
                  <a:srgbClr val="334155"/>
                </a:solidFill>
                <a:latin typeface="Noto Sans CJK KR" pitchFamily="34" charset="0"/>
                <a:ea typeface="Noto Sans CJK KR" pitchFamily="34" charset="-122"/>
                <a:cs typeface="Noto Sans CJK KR" pitchFamily="34" charset="-120"/>
              </a:rPr>
              <a:t>사용자가 확정</a:t>
            </a:r>
            <a:endParaRPr lang="en-US" sz="1020" dirty="0"/>
          </a:p>
        </p:txBody>
      </p:sp>
      <p:sp>
        <p:nvSpPr>
          <p:cNvPr id="18" name="Shape 16"/>
          <p:cNvSpPr/>
          <p:nvPr/>
        </p:nvSpPr>
        <p:spPr>
          <a:xfrm>
            <a:off x="8403336" y="2057400"/>
            <a:ext cx="301752" cy="0"/>
          </a:xfrm>
          <a:prstGeom prst="line">
            <a:avLst/>
          </a:prstGeom>
          <a:noFill/>
          <a:ln w="15240">
            <a:solidFill>
              <a:srgbClr val="64748B"/>
            </a:solidFill>
            <a:prstDash val="solid"/>
            <a:headEnd type="none"/>
            <a:tailEnd type="triangle"/>
          </a:ln>
        </p:spPr>
      </p:sp>
      <p:sp>
        <p:nvSpPr>
          <p:cNvPr id="19" name="Text 17"/>
          <p:cNvSpPr/>
          <p:nvPr/>
        </p:nvSpPr>
        <p:spPr>
          <a:xfrm>
            <a:off x="8851392" y="1847088"/>
            <a:ext cx="1481328" cy="438912"/>
          </a:xfrm>
          <a:prstGeom prst="rect">
            <a:avLst/>
          </a:prstGeom>
          <a:solidFill>
            <a:srgbClr val="FFFFFF"/>
          </a:solidFill>
          <a:ln w="12700">
            <a:solidFill>
              <a:srgbClr val="14213D"/>
            </a:solidFill>
          </a:ln>
        </p:spPr>
        <p:txBody>
          <a:bodyPr wrap="square" lIns="1016" tIns="1016" rIns="1016" bIns="1016" rtlCol="0" anchor="ctr">
            <a:normAutofit/>
          </a:bodyPr>
          <a:lstStyle/>
          <a:p>
            <a:pPr marL="0" indent="0" algn="ctr">
              <a:buNone/>
            </a:pPr>
            <a:r>
              <a:rPr lang="en-US" sz="1120" b="1" dirty="0">
                <a:solidFill>
                  <a:srgbClr val="14213D"/>
                </a:solidFill>
                <a:latin typeface="Noto Sans CJK KR" pitchFamily="34" charset="0"/>
                <a:ea typeface="Noto Sans CJK KR" pitchFamily="34" charset="-122"/>
                <a:cs typeface="Noto Sans CJK KR" pitchFamily="34" charset="-120"/>
              </a:rPr>
              <a:t>예약 기록</a:t>
            </a:r>
            <a:endParaRPr lang="en-US" sz="1120" dirty="0"/>
          </a:p>
        </p:txBody>
      </p:sp>
      <p:sp>
        <p:nvSpPr>
          <p:cNvPr id="20" name="Text 18"/>
          <p:cNvSpPr/>
          <p:nvPr/>
        </p:nvSpPr>
        <p:spPr>
          <a:xfrm>
            <a:off x="8851392" y="2404872"/>
            <a:ext cx="1481328" cy="548640"/>
          </a:xfrm>
          <a:prstGeom prst="rect">
            <a:avLst/>
          </a:prstGeom>
          <a:noFill/>
          <a:ln/>
        </p:spPr>
        <p:txBody>
          <a:bodyPr wrap="square" lIns="254" tIns="254" rIns="254" bIns="254" rtlCol="0" anchor="t">
            <a:normAutofit/>
          </a:bodyPr>
          <a:lstStyle/>
          <a:p>
            <a:pPr marL="0" indent="0" algn="ctr">
              <a:buNone/>
            </a:pPr>
            <a:r>
              <a:rPr lang="en-US" sz="1020" dirty="0">
                <a:solidFill>
                  <a:srgbClr val="334155"/>
                </a:solidFill>
                <a:latin typeface="Noto Sans CJK KR" pitchFamily="34" charset="0"/>
                <a:ea typeface="Noto Sans CJK KR" pitchFamily="34" charset="-122"/>
                <a:cs typeface="Noto Sans CJK KR" pitchFamily="34" charset="-120"/>
              </a:rPr>
              <a:t>충돌·중복 확인</a:t>
            </a:r>
            <a:endParaRPr lang="en-US" sz="1020" dirty="0"/>
          </a:p>
          <a:p>
            <a:pPr marL="0" indent="0" algn="ctr">
              <a:buNone/>
            </a:pPr>
            <a:r>
              <a:rPr lang="en-US" sz="1020" dirty="0">
                <a:solidFill>
                  <a:srgbClr val="334155"/>
                </a:solidFill>
                <a:latin typeface="Noto Sans CJK KR" pitchFamily="34" charset="0"/>
                <a:ea typeface="Noto Sans CJK KR" pitchFamily="34" charset="-122"/>
                <a:cs typeface="Noto Sans CJK KR" pitchFamily="34" charset="-120"/>
              </a:rPr>
              <a:t>후 저장</a:t>
            </a:r>
            <a:endParaRPr lang="en-US" sz="1020" dirty="0"/>
          </a:p>
        </p:txBody>
      </p:sp>
      <p:sp>
        <p:nvSpPr>
          <p:cNvPr id="21" name="Text 19"/>
          <p:cNvSpPr/>
          <p:nvPr/>
        </p:nvSpPr>
        <p:spPr>
          <a:xfrm>
            <a:off x="685800" y="3675888"/>
            <a:ext cx="2926080" cy="256032"/>
          </a:xfrm>
          <a:prstGeom prst="rect">
            <a:avLst/>
          </a:prstGeom>
          <a:noFill/>
          <a:ln/>
        </p:spPr>
        <p:txBody>
          <a:bodyPr wrap="square" lIns="254" tIns="254" rIns="254" bIns="254" rtlCol="0" anchor="t">
            <a:normAutofit/>
          </a:bodyPr>
          <a:lstStyle/>
          <a:p>
            <a:pPr marL="0" indent="0" algn="l">
              <a:buNone/>
            </a:pPr>
            <a:r>
              <a:rPr lang="en-US" sz="1050" b="1" dirty="0">
                <a:solidFill>
                  <a:srgbClr val="DC2626"/>
                </a:solidFill>
                <a:latin typeface="Noto Sans CJK KR" pitchFamily="34" charset="0"/>
                <a:ea typeface="Noto Sans CJK KR" pitchFamily="34" charset="-122"/>
                <a:cs typeface="Noto Sans CJK KR" pitchFamily="34" charset="-120"/>
              </a:rPr>
              <a:t>이번 과제에서 제외한 범위</a:t>
            </a:r>
            <a:endParaRPr lang="en-US" sz="1050" dirty="0"/>
          </a:p>
        </p:txBody>
      </p:sp>
      <p:sp>
        <p:nvSpPr>
          <p:cNvPr id="22" name="Text 20"/>
          <p:cNvSpPr/>
          <p:nvPr/>
        </p:nvSpPr>
        <p:spPr>
          <a:xfrm>
            <a:off x="868680" y="4096512"/>
            <a:ext cx="10378440" cy="310896"/>
          </a:xfrm>
          <a:prstGeom prst="rect">
            <a:avLst/>
          </a:prstGeom>
          <a:noFill/>
          <a:ln/>
        </p:spPr>
        <p:txBody>
          <a:bodyPr wrap="square" lIns="254" tIns="254" rIns="254" bIns="254" rtlCol="0" anchor="t">
            <a:normAutofit/>
          </a:bodyPr>
          <a:lstStyle/>
          <a:p>
            <a:pPr marL="0" indent="0" algn="ctr">
              <a:buNone/>
            </a:pPr>
            <a:r>
              <a:rPr lang="en-US" sz="1440" b="1" dirty="0">
                <a:solidFill>
                  <a:srgbClr val="14213D"/>
                </a:solidFill>
                <a:latin typeface="Noto Sans CJK KR" pitchFamily="34" charset="0"/>
                <a:ea typeface="Noto Sans CJK KR" pitchFamily="34" charset="-122"/>
                <a:cs typeface="Noto Sans CJK KR" pitchFamily="34" charset="-120"/>
              </a:rPr>
              <a:t>의료적 검사 적합성 판단 · 실제 예약 시스템 연동 · 문자 발송 · 장시간 부하 시험 · 다중 인스턴스 운영</a:t>
            </a:r>
            <a:endParaRPr lang="en-US" sz="1440" dirty="0"/>
          </a:p>
        </p:txBody>
      </p:sp>
      <p:sp>
        <p:nvSpPr>
          <p:cNvPr id="23" name="Shape 21"/>
          <p:cNvSpPr/>
          <p:nvPr/>
        </p:nvSpPr>
        <p:spPr>
          <a:xfrm>
            <a:off x="1005840" y="4681728"/>
            <a:ext cx="10149840" cy="0"/>
          </a:xfrm>
          <a:prstGeom prst="line">
            <a:avLst/>
          </a:prstGeom>
          <a:noFill/>
          <a:ln w="13970">
            <a:solidFill>
              <a:srgbClr val="CBD5E1"/>
            </a:solidFill>
            <a:prstDash val="solid"/>
          </a:ln>
        </p:spPr>
      </p:sp>
      <p:sp>
        <p:nvSpPr>
          <p:cNvPr id="24" name="Text 22"/>
          <p:cNvSpPr/>
          <p:nvPr/>
        </p:nvSpPr>
        <p:spPr>
          <a:xfrm>
            <a:off x="914400" y="5029200"/>
            <a:ext cx="1417320" cy="256032"/>
          </a:xfrm>
          <a:prstGeom prst="rect">
            <a:avLst/>
          </a:prstGeom>
          <a:noFill/>
          <a:ln/>
        </p:spPr>
        <p:txBody>
          <a:bodyPr wrap="square" lIns="254" tIns="254" rIns="254" bIns="254" rtlCol="0" anchor="t">
            <a:normAutofit/>
          </a:bodyPr>
          <a:lstStyle/>
          <a:p>
            <a:pPr marL="0" indent="0" algn="l">
              <a:buNone/>
            </a:pPr>
            <a:r>
              <a:rPr lang="en-US" sz="1050" b="1" dirty="0">
                <a:solidFill>
                  <a:srgbClr val="2563EB"/>
                </a:solidFill>
                <a:latin typeface="Noto Sans CJK KR" pitchFamily="34" charset="0"/>
                <a:ea typeface="Noto Sans CJK KR" pitchFamily="34" charset="-122"/>
                <a:cs typeface="Noto Sans CJK KR" pitchFamily="34" charset="-120"/>
              </a:rPr>
              <a:t>핵심 판단</a:t>
            </a:r>
            <a:endParaRPr lang="en-US" sz="1050" dirty="0"/>
          </a:p>
        </p:txBody>
      </p:sp>
      <p:sp>
        <p:nvSpPr>
          <p:cNvPr id="25" name="Text 23"/>
          <p:cNvSpPr/>
          <p:nvPr/>
        </p:nvSpPr>
        <p:spPr>
          <a:xfrm>
            <a:off x="2377440" y="4937760"/>
            <a:ext cx="8549640" cy="438912"/>
          </a:xfrm>
          <a:prstGeom prst="rect">
            <a:avLst/>
          </a:prstGeom>
          <a:noFill/>
          <a:ln/>
        </p:spPr>
        <p:txBody>
          <a:bodyPr wrap="square" lIns="254" tIns="254" rIns="254" bIns="254" rtlCol="0" anchor="t">
            <a:normAutofit/>
          </a:bodyPr>
          <a:lstStyle/>
          <a:p>
            <a:pPr marL="0" indent="0" algn="ctr">
              <a:buNone/>
            </a:pPr>
            <a:r>
              <a:rPr lang="en-US" sz="1570" dirty="0">
                <a:solidFill>
                  <a:srgbClr val="14213D"/>
                </a:solidFill>
                <a:latin typeface="Noto Sans CJK KR" pitchFamily="34" charset="0"/>
                <a:ea typeface="Noto Sans CJK KR" pitchFamily="34" charset="-122"/>
                <a:cs typeface="Noto Sans CJK KR" pitchFamily="34" charset="-120"/>
              </a:rPr>
              <a:t>Agent 협업·MCP 호출·승인 경계를 검증하는 제출용 데모로 범위를 좁혔습니다.</a:t>
            </a:r>
            <a:endParaRPr lang="en-US" sz="1570" dirty="0"/>
          </a:p>
        </p:txBody>
      </p:sp>
      <p:sp>
        <p:nvSpPr>
          <p:cNvPr id="26" name="Text 24"/>
          <p:cNvSpPr/>
          <p:nvPr/>
        </p:nvSpPr>
        <p:spPr>
          <a:xfrm>
            <a:off x="10561320" y="6446520"/>
            <a:ext cx="1051560" cy="164592"/>
          </a:xfrm>
          <a:prstGeom prst="rect">
            <a:avLst/>
          </a:prstGeom>
          <a:noFill/>
          <a:ln/>
        </p:spPr>
        <p:txBody>
          <a:bodyPr wrap="square" lIns="0" tIns="0" rIns="0" bIns="0" rtlCol="0" anchor="ctr"/>
          <a:lstStyle/>
          <a:p>
            <a:pPr marL="0" indent="0" algn="r">
              <a:buNone/>
            </a:pPr>
            <a:r>
              <a:rPr lang="en-US" sz="750" dirty="0">
                <a:solidFill>
                  <a:srgbClr val="64748B"/>
                </a:solidFill>
                <a:latin typeface="Noto Sans CJK KR" pitchFamily="34" charset="0"/>
                <a:ea typeface="Noto Sans CJK KR" pitchFamily="34" charset="-122"/>
                <a:cs typeface="Noto Sans CJK KR" pitchFamily="34" charset="-120"/>
              </a:rPr>
              <a:t>ExamFlow · 2/7</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4213D"/>
          </a:solidFill>
          <a:ln w="12700">
            <a:solidFill>
              <a:srgbClr val="14213D"/>
            </a:solidFill>
            <a:prstDash val="solid"/>
          </a:ln>
        </p:spPr>
      </p:sp>
      <p:sp>
        <p:nvSpPr>
          <p:cNvPr id="3" name="Shape 1"/>
          <p:cNvSpPr/>
          <p:nvPr/>
        </p:nvSpPr>
        <p:spPr>
          <a:xfrm>
            <a:off x="0" y="6729984"/>
            <a:ext cx="12191695" cy="128016"/>
          </a:xfrm>
          <a:prstGeom prst="rect">
            <a:avLst/>
          </a:prstGeom>
          <a:solidFill>
            <a:srgbClr val="14213D"/>
          </a:solidFill>
          <a:ln w="12700">
            <a:solidFill>
              <a:srgbClr val="14213D"/>
            </a:solidFill>
            <a:prstDash val="solid"/>
          </a:ln>
        </p:spPr>
      </p:sp>
      <p:sp>
        <p:nvSpPr>
          <p:cNvPr id="4" name="Text 2"/>
          <p:cNvSpPr/>
          <p:nvPr/>
        </p:nvSpPr>
        <p:spPr>
          <a:xfrm>
            <a:off x="566928" y="384048"/>
            <a:ext cx="3840480" cy="228600"/>
          </a:xfrm>
          <a:prstGeom prst="rect">
            <a:avLst/>
          </a:prstGeom>
          <a:noFill/>
          <a:ln/>
        </p:spPr>
        <p:txBody>
          <a:bodyPr wrap="square" lIns="0" tIns="0" rIns="0" bIns="0" rtlCol="0" anchor="ctr"/>
          <a:lstStyle/>
          <a:p>
            <a:pPr marL="0" indent="0">
              <a:buNone/>
            </a:pPr>
            <a:r>
              <a:rPr lang="en-US" sz="1000" b="1" dirty="0">
                <a:solidFill>
                  <a:srgbClr val="2563EB"/>
                </a:solidFill>
                <a:latin typeface="Noto Sans CJK KR" pitchFamily="34" charset="0"/>
                <a:ea typeface="Noto Sans CJK KR" pitchFamily="34" charset="-122"/>
                <a:cs typeface="Noto Sans CJK KR" pitchFamily="34" charset="-120"/>
              </a:rPr>
              <a:t>02 · Architecture</a:t>
            </a:r>
            <a:endParaRPr lang="en-US" sz="1000" dirty="0"/>
          </a:p>
        </p:txBody>
      </p:sp>
      <p:sp>
        <p:nvSpPr>
          <p:cNvPr id="5" name="Text 3"/>
          <p:cNvSpPr/>
          <p:nvPr/>
        </p:nvSpPr>
        <p:spPr>
          <a:xfrm>
            <a:off x="566928" y="676656"/>
            <a:ext cx="11064240" cy="457200"/>
          </a:xfrm>
          <a:prstGeom prst="rect">
            <a:avLst/>
          </a:prstGeom>
          <a:noFill/>
          <a:ln/>
        </p:spPr>
        <p:txBody>
          <a:bodyPr wrap="square" lIns="0" tIns="0" rIns="0" bIns="0" rtlCol="0" anchor="ctr">
            <a:normAutofit/>
          </a:bodyPr>
          <a:lstStyle/>
          <a:p>
            <a:pPr marL="0" indent="0">
              <a:buNone/>
            </a:pPr>
            <a:r>
              <a:rPr lang="en-US" sz="2350" b="1" dirty="0">
                <a:solidFill>
                  <a:srgbClr val="14213D"/>
                </a:solidFill>
                <a:latin typeface="Noto Sans CJK KR" pitchFamily="34" charset="0"/>
                <a:ea typeface="Noto Sans CJK KR" pitchFamily="34" charset="-122"/>
                <a:cs typeface="Noto Sans CJK KR" pitchFamily="34" charset="-120"/>
              </a:rPr>
              <a:t>아키텍처: Agent가 제안하고, 코드는 기록 변경을 통제합니다</a:t>
            </a:r>
            <a:endParaRPr lang="en-US" sz="2350" dirty="0"/>
          </a:p>
        </p:txBody>
      </p:sp>
      <p:sp>
        <p:nvSpPr>
          <p:cNvPr id="6" name="Shape 4"/>
          <p:cNvSpPr/>
          <p:nvPr/>
        </p:nvSpPr>
        <p:spPr>
          <a:xfrm>
            <a:off x="2148840" y="1883664"/>
            <a:ext cx="1124712" cy="0"/>
          </a:xfrm>
          <a:prstGeom prst="line">
            <a:avLst/>
          </a:prstGeom>
          <a:noFill/>
          <a:ln w="15875">
            <a:solidFill>
              <a:srgbClr val="2563EB"/>
            </a:solidFill>
            <a:prstDash val="solid"/>
            <a:headEnd type="none"/>
            <a:tailEnd type="triangle"/>
          </a:ln>
        </p:spPr>
      </p:sp>
      <p:sp>
        <p:nvSpPr>
          <p:cNvPr id="7" name="Shape 5"/>
          <p:cNvSpPr/>
          <p:nvPr/>
        </p:nvSpPr>
        <p:spPr>
          <a:xfrm>
            <a:off x="4590288" y="1883664"/>
            <a:ext cx="1106424" cy="0"/>
          </a:xfrm>
          <a:prstGeom prst="line">
            <a:avLst/>
          </a:prstGeom>
          <a:noFill/>
          <a:ln w="15875">
            <a:solidFill>
              <a:srgbClr val="2563EB"/>
            </a:solidFill>
            <a:prstDash val="solid"/>
            <a:headEnd type="none"/>
            <a:tailEnd type="triangle"/>
          </a:ln>
        </p:spPr>
      </p:sp>
      <p:sp>
        <p:nvSpPr>
          <p:cNvPr id="8" name="Shape 6"/>
          <p:cNvSpPr/>
          <p:nvPr/>
        </p:nvSpPr>
        <p:spPr>
          <a:xfrm>
            <a:off x="7278624" y="1883664"/>
            <a:ext cx="978408" cy="0"/>
          </a:xfrm>
          <a:prstGeom prst="line">
            <a:avLst/>
          </a:prstGeom>
          <a:noFill/>
          <a:ln w="15875">
            <a:solidFill>
              <a:srgbClr val="2563EB"/>
            </a:solidFill>
            <a:prstDash val="solid"/>
            <a:headEnd type="none"/>
            <a:tailEnd type="triangle"/>
          </a:ln>
        </p:spPr>
      </p:sp>
      <p:sp>
        <p:nvSpPr>
          <p:cNvPr id="9" name="Shape 7"/>
          <p:cNvSpPr/>
          <p:nvPr/>
        </p:nvSpPr>
        <p:spPr>
          <a:xfrm>
            <a:off x="9528048" y="1883664"/>
            <a:ext cx="850392" cy="0"/>
          </a:xfrm>
          <a:prstGeom prst="line">
            <a:avLst/>
          </a:prstGeom>
          <a:noFill/>
          <a:ln w="15875">
            <a:solidFill>
              <a:srgbClr val="14B8A6"/>
            </a:solidFill>
            <a:prstDash val="solid"/>
            <a:headEnd type="none"/>
            <a:tailEnd type="triangle"/>
          </a:ln>
        </p:spPr>
      </p:sp>
      <p:sp>
        <p:nvSpPr>
          <p:cNvPr id="10" name="Shape 8"/>
          <p:cNvSpPr/>
          <p:nvPr/>
        </p:nvSpPr>
        <p:spPr>
          <a:xfrm>
            <a:off x="3977640" y="2542032"/>
            <a:ext cx="0" cy="987552"/>
          </a:xfrm>
          <a:prstGeom prst="line">
            <a:avLst/>
          </a:prstGeom>
          <a:noFill/>
          <a:ln w="15240">
            <a:solidFill>
              <a:srgbClr val="14B8A6"/>
            </a:solidFill>
            <a:prstDash val="solid"/>
          </a:ln>
        </p:spPr>
      </p:sp>
      <p:sp>
        <p:nvSpPr>
          <p:cNvPr id="11" name="Shape 9"/>
          <p:cNvSpPr/>
          <p:nvPr/>
        </p:nvSpPr>
        <p:spPr>
          <a:xfrm>
            <a:off x="6492240" y="2542032"/>
            <a:ext cx="0" cy="987552"/>
          </a:xfrm>
          <a:prstGeom prst="line">
            <a:avLst/>
          </a:prstGeom>
          <a:noFill/>
          <a:ln w="15240">
            <a:solidFill>
              <a:srgbClr val="14B8A6"/>
            </a:solidFill>
            <a:prstDash val="solid"/>
          </a:ln>
        </p:spPr>
      </p:sp>
      <p:sp>
        <p:nvSpPr>
          <p:cNvPr id="12" name="Shape 10"/>
          <p:cNvSpPr/>
          <p:nvPr/>
        </p:nvSpPr>
        <p:spPr>
          <a:xfrm>
            <a:off x="8915400" y="2542032"/>
            <a:ext cx="0" cy="987552"/>
          </a:xfrm>
          <a:prstGeom prst="line">
            <a:avLst/>
          </a:prstGeom>
          <a:noFill/>
          <a:ln w="15240">
            <a:solidFill>
              <a:srgbClr val="14B8A6"/>
            </a:solidFill>
            <a:prstDash val="solid"/>
          </a:ln>
        </p:spPr>
      </p:sp>
      <p:sp>
        <p:nvSpPr>
          <p:cNvPr id="13" name="Text 11"/>
          <p:cNvSpPr/>
          <p:nvPr/>
        </p:nvSpPr>
        <p:spPr>
          <a:xfrm>
            <a:off x="594360" y="1481328"/>
            <a:ext cx="1481328" cy="804672"/>
          </a:xfrm>
          <a:prstGeom prst="rect">
            <a:avLst/>
          </a:prstGeom>
          <a:solidFill>
            <a:srgbClr val="FFFFFF"/>
          </a:solidFill>
          <a:ln w="12700">
            <a:solidFill>
              <a:srgbClr val="CBD5E1"/>
            </a:solidFill>
          </a:ln>
        </p:spPr>
        <p:txBody>
          <a:bodyPr wrap="square" lIns="1016" tIns="1016" rIns="1016" bIns="1016" rtlCol="0" anchor="ctr">
            <a:normAutofit/>
          </a:bodyPr>
          <a:lstStyle/>
          <a:p>
            <a:pPr marL="0" indent="0" algn="ctr">
              <a:buNone/>
            </a:pPr>
            <a:r>
              <a:rPr lang="en-US" sz="1080" b="1" dirty="0">
                <a:solidFill>
                  <a:srgbClr val="14213D"/>
                </a:solidFill>
                <a:latin typeface="Noto Sans CJK KR" pitchFamily="34" charset="0"/>
                <a:ea typeface="Noto Sans CJK KR" pitchFamily="34" charset="-122"/>
                <a:cs typeface="Noto Sans CJK KR" pitchFamily="34" charset="-120"/>
              </a:rPr>
              <a:t>웹 UI</a:t>
            </a:r>
            <a:endParaRPr lang="en-US" sz="1080" dirty="0"/>
          </a:p>
          <a:p>
            <a:pPr marL="0" indent="0" algn="ctr">
              <a:buNone/>
            </a:pPr>
            <a:r>
              <a:rPr lang="en-US" sz="1080" b="1" dirty="0">
                <a:solidFill>
                  <a:srgbClr val="14213D"/>
                </a:solidFill>
                <a:latin typeface="Noto Sans CJK KR" pitchFamily="34" charset="0"/>
                <a:ea typeface="Noto Sans CJK KR" pitchFamily="34" charset="-122"/>
                <a:cs typeface="Noto Sans CJK KR" pitchFamily="34" charset="-120"/>
              </a:rPr>
              <a:t>요청·근거·승인</a:t>
            </a:r>
            <a:endParaRPr lang="en-US" sz="1080" dirty="0"/>
          </a:p>
        </p:txBody>
      </p:sp>
      <p:sp>
        <p:nvSpPr>
          <p:cNvPr id="14" name="Text 12"/>
          <p:cNvSpPr/>
          <p:nvPr/>
        </p:nvSpPr>
        <p:spPr>
          <a:xfrm>
            <a:off x="3364992" y="1481328"/>
            <a:ext cx="1115568" cy="804672"/>
          </a:xfrm>
          <a:prstGeom prst="rect">
            <a:avLst/>
          </a:prstGeom>
          <a:solidFill>
            <a:srgbClr val="FFFFFF"/>
          </a:solidFill>
          <a:ln w="12700">
            <a:solidFill>
              <a:srgbClr val="14213D"/>
            </a:solidFill>
          </a:ln>
        </p:spPr>
        <p:txBody>
          <a:bodyPr wrap="square" lIns="1016" tIns="1016" rIns="1016" bIns="1016" rtlCol="0" anchor="ctr">
            <a:normAutofit/>
          </a:bodyPr>
          <a:lstStyle/>
          <a:p>
            <a:pPr marL="0" indent="0" algn="ctr">
              <a:buNone/>
            </a:pPr>
            <a:r>
              <a:rPr lang="en-US" sz="1080" b="1" dirty="0">
                <a:solidFill>
                  <a:srgbClr val="14213D"/>
                </a:solidFill>
                <a:latin typeface="Noto Sans CJK KR" pitchFamily="34" charset="0"/>
                <a:ea typeface="Noto Sans CJK KR" pitchFamily="34" charset="-122"/>
                <a:cs typeface="Noto Sans CJK KR" pitchFamily="34" charset="-120"/>
              </a:rPr>
              <a:t>FastAPI</a:t>
            </a:r>
            <a:endParaRPr lang="en-US" sz="1080" dirty="0"/>
          </a:p>
          <a:p>
            <a:pPr marL="0" indent="0" algn="ctr">
              <a:buNone/>
            </a:pPr>
            <a:r>
              <a:rPr lang="en-US" sz="1080" b="1" dirty="0">
                <a:solidFill>
                  <a:srgbClr val="14213D"/>
                </a:solidFill>
                <a:latin typeface="Noto Sans CJK KR" pitchFamily="34" charset="0"/>
                <a:ea typeface="Noto Sans CJK KR" pitchFamily="34" charset="-122"/>
                <a:cs typeface="Noto Sans CJK KR" pitchFamily="34" charset="-120"/>
              </a:rPr>
              <a:t>작업 조정기</a:t>
            </a:r>
            <a:endParaRPr lang="en-US" sz="1080" dirty="0"/>
          </a:p>
        </p:txBody>
      </p:sp>
      <p:sp>
        <p:nvSpPr>
          <p:cNvPr id="15" name="Text 13"/>
          <p:cNvSpPr/>
          <p:nvPr/>
        </p:nvSpPr>
        <p:spPr>
          <a:xfrm>
            <a:off x="5806440" y="1298448"/>
            <a:ext cx="1298448" cy="530352"/>
          </a:xfrm>
          <a:prstGeom prst="rect">
            <a:avLst/>
          </a:prstGeom>
          <a:solidFill>
            <a:srgbClr val="EAF2FF"/>
          </a:solidFill>
          <a:ln w="12700">
            <a:solidFill>
              <a:srgbClr val="2563EB"/>
            </a:solidFill>
          </a:ln>
        </p:spPr>
        <p:txBody>
          <a:bodyPr wrap="square" lIns="1016" tIns="1016" rIns="1016" bIns="1016" rtlCol="0" anchor="ctr">
            <a:normAutofit/>
          </a:bodyPr>
          <a:lstStyle/>
          <a:p>
            <a:pPr marL="0" indent="0" algn="ctr">
              <a:buNone/>
            </a:pPr>
            <a:r>
              <a:rPr lang="en-US" sz="1080" b="1" dirty="0">
                <a:solidFill>
                  <a:srgbClr val="14213D"/>
                </a:solidFill>
                <a:latin typeface="Noto Sans CJK KR" pitchFamily="34" charset="0"/>
                <a:ea typeface="Noto Sans CJK KR" pitchFamily="34" charset="-122"/>
                <a:cs typeface="Noto Sans CJK KR" pitchFamily="34" charset="-120"/>
              </a:rPr>
              <a:t>준비 확인</a:t>
            </a:r>
            <a:endParaRPr lang="en-US" sz="1080" dirty="0"/>
          </a:p>
          <a:p>
            <a:pPr marL="0" indent="0" algn="ctr">
              <a:buNone/>
            </a:pPr>
            <a:r>
              <a:rPr lang="en-US" sz="1080" b="1" dirty="0">
                <a:solidFill>
                  <a:srgbClr val="14213D"/>
                </a:solidFill>
                <a:latin typeface="Noto Sans CJK KR" pitchFamily="34" charset="0"/>
                <a:ea typeface="Noto Sans CJK KR" pitchFamily="34" charset="-122"/>
                <a:cs typeface="Noto Sans CJK KR" pitchFamily="34" charset="-120"/>
              </a:rPr>
              <a:t>Agent</a:t>
            </a:r>
            <a:endParaRPr lang="en-US" sz="1080" dirty="0"/>
          </a:p>
        </p:txBody>
      </p:sp>
      <p:sp>
        <p:nvSpPr>
          <p:cNvPr id="16" name="Text 14"/>
          <p:cNvSpPr/>
          <p:nvPr/>
        </p:nvSpPr>
        <p:spPr>
          <a:xfrm>
            <a:off x="5806440" y="1993392"/>
            <a:ext cx="1298448" cy="530352"/>
          </a:xfrm>
          <a:prstGeom prst="rect">
            <a:avLst/>
          </a:prstGeom>
          <a:solidFill>
            <a:srgbClr val="E9FBF7"/>
          </a:solidFill>
          <a:ln w="12700">
            <a:solidFill>
              <a:srgbClr val="14B8A6"/>
            </a:solidFill>
          </a:ln>
        </p:spPr>
        <p:txBody>
          <a:bodyPr wrap="square" lIns="1016" tIns="1016" rIns="1016" bIns="1016" rtlCol="0" anchor="ctr">
            <a:normAutofit/>
          </a:bodyPr>
          <a:lstStyle/>
          <a:p>
            <a:pPr marL="0" indent="0" algn="ctr">
              <a:buNone/>
            </a:pPr>
            <a:r>
              <a:rPr lang="en-US" sz="1080" b="1" dirty="0">
                <a:solidFill>
                  <a:srgbClr val="14213D"/>
                </a:solidFill>
                <a:latin typeface="Noto Sans CJK KR" pitchFamily="34" charset="0"/>
                <a:ea typeface="Noto Sans CJK KR" pitchFamily="34" charset="-122"/>
                <a:cs typeface="Noto Sans CJK KR" pitchFamily="34" charset="-120"/>
              </a:rPr>
              <a:t>일정 조정</a:t>
            </a:r>
            <a:endParaRPr lang="en-US" sz="1080" dirty="0"/>
          </a:p>
          <a:p>
            <a:pPr marL="0" indent="0" algn="ctr">
              <a:buNone/>
            </a:pPr>
            <a:r>
              <a:rPr lang="en-US" sz="1080" b="1" dirty="0">
                <a:solidFill>
                  <a:srgbClr val="14213D"/>
                </a:solidFill>
                <a:latin typeface="Noto Sans CJK KR" pitchFamily="34" charset="0"/>
                <a:ea typeface="Noto Sans CJK KR" pitchFamily="34" charset="-122"/>
                <a:cs typeface="Noto Sans CJK KR" pitchFamily="34" charset="-120"/>
              </a:rPr>
              <a:t>Agent</a:t>
            </a:r>
            <a:endParaRPr lang="en-US" sz="1080" dirty="0"/>
          </a:p>
        </p:txBody>
      </p:sp>
      <p:sp>
        <p:nvSpPr>
          <p:cNvPr id="17" name="Text 15"/>
          <p:cNvSpPr/>
          <p:nvPr/>
        </p:nvSpPr>
        <p:spPr>
          <a:xfrm>
            <a:off x="8339328" y="1481328"/>
            <a:ext cx="1078992" cy="804672"/>
          </a:xfrm>
          <a:prstGeom prst="rect">
            <a:avLst/>
          </a:prstGeom>
          <a:solidFill>
            <a:srgbClr val="FFFFFF"/>
          </a:solidFill>
          <a:ln w="12700">
            <a:solidFill>
              <a:srgbClr val="2563EB"/>
            </a:solidFill>
          </a:ln>
        </p:spPr>
        <p:txBody>
          <a:bodyPr wrap="square" lIns="1016" tIns="1016" rIns="1016" bIns="1016" rtlCol="0" anchor="ctr">
            <a:normAutofit/>
          </a:bodyPr>
          <a:lstStyle/>
          <a:p>
            <a:pPr marL="0" indent="0" algn="ctr">
              <a:buNone/>
            </a:pPr>
            <a:r>
              <a:rPr lang="en-US" sz="1080" b="1" dirty="0">
                <a:solidFill>
                  <a:srgbClr val="14213D"/>
                </a:solidFill>
                <a:latin typeface="Noto Sans CJK KR" pitchFamily="34" charset="0"/>
                <a:ea typeface="Noto Sans CJK KR" pitchFamily="34" charset="-122"/>
                <a:cs typeface="Noto Sans CJK KR" pitchFamily="34" charset="-120"/>
              </a:rPr>
              <a:t>Gemini</a:t>
            </a:r>
            <a:endParaRPr lang="en-US" sz="1080" dirty="0"/>
          </a:p>
          <a:p>
            <a:pPr marL="0" indent="0" algn="ctr">
              <a:buNone/>
            </a:pPr>
            <a:r>
              <a:rPr lang="en-US" sz="1080" b="1" dirty="0">
                <a:solidFill>
                  <a:srgbClr val="14213D"/>
                </a:solidFill>
                <a:latin typeface="Noto Sans CJK KR" pitchFamily="34" charset="0"/>
                <a:ea typeface="Noto Sans CJK KR" pitchFamily="34" charset="-122"/>
                <a:cs typeface="Noto Sans CJK KR" pitchFamily="34" charset="-120"/>
              </a:rPr>
              <a:t>Vertex AI</a:t>
            </a:r>
            <a:endParaRPr lang="en-US" sz="1080" dirty="0"/>
          </a:p>
        </p:txBody>
      </p:sp>
      <p:sp>
        <p:nvSpPr>
          <p:cNvPr id="18" name="Text 16"/>
          <p:cNvSpPr/>
          <p:nvPr/>
        </p:nvSpPr>
        <p:spPr>
          <a:xfrm>
            <a:off x="10469880" y="1481328"/>
            <a:ext cx="1051560" cy="804672"/>
          </a:xfrm>
          <a:prstGeom prst="rect">
            <a:avLst/>
          </a:prstGeom>
          <a:solidFill>
            <a:srgbClr val="FFFFFF"/>
          </a:solidFill>
          <a:ln w="12700">
            <a:solidFill>
              <a:srgbClr val="14213D"/>
            </a:solidFill>
          </a:ln>
        </p:spPr>
        <p:txBody>
          <a:bodyPr wrap="square" lIns="1016" tIns="1016" rIns="1016" bIns="1016" rtlCol="0" anchor="ctr">
            <a:normAutofit/>
          </a:bodyPr>
          <a:lstStyle/>
          <a:p>
            <a:pPr marL="0" indent="0" algn="ctr">
              <a:buNone/>
            </a:pPr>
            <a:r>
              <a:rPr lang="en-US" sz="1020" b="1" dirty="0">
                <a:solidFill>
                  <a:srgbClr val="14213D"/>
                </a:solidFill>
                <a:latin typeface="Noto Sans CJK KR" pitchFamily="34" charset="0"/>
                <a:ea typeface="Noto Sans CJK KR" pitchFamily="34" charset="-122"/>
                <a:cs typeface="Noto Sans CJK KR" pitchFamily="34" charset="-120"/>
              </a:rPr>
              <a:t>합성 예약</a:t>
            </a:r>
            <a:endParaRPr lang="en-US" sz="1020" dirty="0"/>
          </a:p>
          <a:p>
            <a:pPr marL="0" indent="0" algn="ctr">
              <a:buNone/>
            </a:pPr>
            <a:r>
              <a:rPr lang="en-US" sz="1020" b="1" dirty="0">
                <a:solidFill>
                  <a:srgbClr val="14213D"/>
                </a:solidFill>
                <a:latin typeface="Noto Sans CJK KR" pitchFamily="34" charset="0"/>
                <a:ea typeface="Noto Sans CJK KR" pitchFamily="34" charset="-122"/>
                <a:cs typeface="Noto Sans CJK KR" pitchFamily="34" charset="-120"/>
              </a:rPr>
              <a:t>SQLite</a:t>
            </a:r>
            <a:endParaRPr lang="en-US" sz="1020" dirty="0"/>
          </a:p>
        </p:txBody>
      </p:sp>
      <p:sp>
        <p:nvSpPr>
          <p:cNvPr id="19" name="Text 17"/>
          <p:cNvSpPr/>
          <p:nvPr/>
        </p:nvSpPr>
        <p:spPr>
          <a:xfrm>
            <a:off x="2423160" y="3584448"/>
            <a:ext cx="8046720" cy="713232"/>
          </a:xfrm>
          <a:prstGeom prst="rect">
            <a:avLst/>
          </a:prstGeom>
          <a:solidFill>
            <a:srgbClr val="FFFFFF"/>
          </a:solidFill>
          <a:ln w="12700">
            <a:solidFill>
              <a:srgbClr val="14B8A6"/>
            </a:solidFill>
          </a:ln>
        </p:spPr>
        <p:txBody>
          <a:bodyPr wrap="square" lIns="1016" tIns="1016" rIns="1016" bIns="1016" rtlCol="0" anchor="ctr">
            <a:normAutofit/>
          </a:bodyPr>
          <a:lstStyle/>
          <a:p>
            <a:pPr marL="0" indent="0" algn="ctr">
              <a:buNone/>
            </a:pPr>
            <a:r>
              <a:rPr lang="en-US" sz="1220" b="1" dirty="0">
                <a:solidFill>
                  <a:srgbClr val="14213D"/>
                </a:solidFill>
                <a:latin typeface="Noto Sans CJK KR" pitchFamily="34" charset="0"/>
                <a:ea typeface="Noto Sans CJK KR" pitchFamily="34" charset="-122"/>
                <a:cs typeface="Noto Sans CJK KR" pitchFamily="34" charset="-120"/>
              </a:rPr>
              <a:t>MCP stdio 서버</a:t>
            </a:r>
            <a:endParaRPr lang="en-US" sz="1220" dirty="0"/>
          </a:p>
          <a:p>
            <a:pPr marL="0" indent="0" algn="ctr">
              <a:buNone/>
            </a:pPr>
            <a:r>
              <a:rPr lang="en-US" sz="1220" b="1" dirty="0">
                <a:solidFill>
                  <a:srgbClr val="14213D"/>
                </a:solidFill>
                <a:latin typeface="Noto Sans CJK KR" pitchFamily="34" charset="0"/>
                <a:ea typeface="Noto Sans CJK KR" pitchFamily="34" charset="-122"/>
                <a:cs typeface="Noto Sans CJK KR" pitchFamily="34" charset="-120"/>
              </a:rPr>
              <a:t>get_order · policy · find_slots · reserve_demo_slot</a:t>
            </a:r>
            <a:endParaRPr lang="en-US" sz="1220" dirty="0"/>
          </a:p>
        </p:txBody>
      </p:sp>
      <p:sp>
        <p:nvSpPr>
          <p:cNvPr id="21" name="Text 19"/>
          <p:cNvSpPr/>
          <p:nvPr/>
        </p:nvSpPr>
        <p:spPr>
          <a:xfrm>
            <a:off x="3401568" y="4462272"/>
            <a:ext cx="5577840" cy="256032"/>
          </a:xfrm>
          <a:prstGeom prst="rect">
            <a:avLst/>
          </a:prstGeom>
          <a:noFill/>
          <a:ln/>
        </p:spPr>
        <p:txBody>
          <a:bodyPr wrap="square" lIns="254" tIns="254" rIns="254" bIns="254" rtlCol="0" anchor="t">
            <a:normAutofit/>
          </a:bodyPr>
          <a:lstStyle/>
          <a:p>
            <a:pPr marL="0" indent="0" algn="ctr">
              <a:buNone/>
            </a:pPr>
            <a:r>
              <a:rPr lang="en-US" sz="1120" dirty="0">
                <a:solidFill>
                  <a:srgbClr val="64748B"/>
                </a:solidFill>
                <a:latin typeface="Noto Sans CJK KR" pitchFamily="34" charset="0"/>
                <a:ea typeface="Noto Sans CJK KR" pitchFamily="34" charset="-122"/>
                <a:cs typeface="Noto Sans CJK KR" pitchFamily="34" charset="-120"/>
              </a:rPr>
              <a:t>MCP 호출은 점선 · 예약 쓰기는 승인 API 이후에만 실행</a:t>
            </a:r>
            <a:endParaRPr lang="en-US" sz="1120" dirty="0"/>
          </a:p>
        </p:txBody>
      </p:sp>
      <p:sp>
        <p:nvSpPr>
          <p:cNvPr id="22" name="Text 20"/>
          <p:cNvSpPr/>
          <p:nvPr/>
        </p:nvSpPr>
        <p:spPr>
          <a:xfrm>
            <a:off x="749808" y="5166360"/>
            <a:ext cx="1463040" cy="256032"/>
          </a:xfrm>
          <a:prstGeom prst="rect">
            <a:avLst/>
          </a:prstGeom>
          <a:noFill/>
          <a:ln/>
        </p:spPr>
        <p:txBody>
          <a:bodyPr wrap="square" lIns="254" tIns="254" rIns="254" bIns="254" rtlCol="0" anchor="t">
            <a:normAutofit/>
          </a:bodyPr>
          <a:lstStyle/>
          <a:p>
            <a:pPr marL="0" indent="0" algn="l">
              <a:buNone/>
            </a:pPr>
            <a:r>
              <a:rPr lang="en-US" sz="1050" b="1" dirty="0">
                <a:solidFill>
                  <a:srgbClr val="2563EB"/>
                </a:solidFill>
                <a:latin typeface="Noto Sans CJK KR" pitchFamily="34" charset="0"/>
                <a:ea typeface="Noto Sans CJK KR" pitchFamily="34" charset="-122"/>
                <a:cs typeface="Noto Sans CJK KR" pitchFamily="34" charset="-120"/>
              </a:rPr>
              <a:t>설계 의도</a:t>
            </a:r>
            <a:endParaRPr lang="en-US" sz="1050" dirty="0"/>
          </a:p>
        </p:txBody>
      </p:sp>
      <p:sp>
        <p:nvSpPr>
          <p:cNvPr id="23" name="Text 21"/>
          <p:cNvSpPr/>
          <p:nvPr/>
        </p:nvSpPr>
        <p:spPr>
          <a:xfrm>
            <a:off x="2212848" y="5010912"/>
            <a:ext cx="8823960" cy="566928"/>
          </a:xfrm>
          <a:prstGeom prst="rect">
            <a:avLst/>
          </a:prstGeom>
          <a:noFill/>
          <a:ln/>
        </p:spPr>
        <p:txBody>
          <a:bodyPr wrap="square" lIns="254" tIns="254" rIns="254" bIns="254" rtlCol="0" anchor="t">
            <a:normAutofit/>
          </a:bodyPr>
          <a:lstStyle/>
          <a:p>
            <a:pPr marL="0" indent="0" algn="ctr">
              <a:buNone/>
            </a:pPr>
            <a:r>
              <a:rPr lang="en-US" sz="1520" dirty="0">
                <a:solidFill>
                  <a:srgbClr val="14213D"/>
                </a:solidFill>
                <a:latin typeface="Noto Sans CJK KR" pitchFamily="34" charset="0"/>
                <a:ea typeface="Noto Sans CJK KR" pitchFamily="34" charset="-122"/>
                <a:cs typeface="Noto Sans CJK KR" pitchFamily="34" charset="-120"/>
              </a:rPr>
              <a:t>단일 Cloud Run 컨테이너로 배포했지만, 내부 흐름은 UI → 조정기 → Agent → MCP 도구 → 저장소로 분리했습니다. 발표에서는 이 경계를 중심으로 설명합니다.</a:t>
            </a:r>
            <a:endParaRPr lang="en-US" sz="1520" dirty="0"/>
          </a:p>
        </p:txBody>
      </p:sp>
      <p:sp>
        <p:nvSpPr>
          <p:cNvPr id="24" name="Text 22"/>
          <p:cNvSpPr/>
          <p:nvPr/>
        </p:nvSpPr>
        <p:spPr>
          <a:xfrm>
            <a:off x="10561320" y="6446520"/>
            <a:ext cx="1051560" cy="164592"/>
          </a:xfrm>
          <a:prstGeom prst="rect">
            <a:avLst/>
          </a:prstGeom>
          <a:noFill/>
          <a:ln/>
        </p:spPr>
        <p:txBody>
          <a:bodyPr wrap="square" lIns="0" tIns="0" rIns="0" bIns="0" rtlCol="0" anchor="ctr"/>
          <a:lstStyle/>
          <a:p>
            <a:pPr marL="0" indent="0" algn="r">
              <a:buNone/>
            </a:pPr>
            <a:r>
              <a:rPr lang="en-US" sz="750" dirty="0">
                <a:solidFill>
                  <a:srgbClr val="64748B"/>
                </a:solidFill>
                <a:latin typeface="Noto Sans CJK KR" pitchFamily="34" charset="0"/>
                <a:ea typeface="Noto Sans CJK KR" pitchFamily="34" charset="-122"/>
                <a:cs typeface="Noto Sans CJK KR" pitchFamily="34" charset="-120"/>
              </a:rPr>
              <a:t>ExamFlow · 3/7</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4213D"/>
          </a:solidFill>
          <a:ln w="12700">
            <a:solidFill>
              <a:srgbClr val="14213D"/>
            </a:solidFill>
            <a:prstDash val="solid"/>
          </a:ln>
        </p:spPr>
      </p:sp>
      <p:sp>
        <p:nvSpPr>
          <p:cNvPr id="3" name="Shape 1"/>
          <p:cNvSpPr/>
          <p:nvPr/>
        </p:nvSpPr>
        <p:spPr>
          <a:xfrm>
            <a:off x="0" y="6729984"/>
            <a:ext cx="12191695" cy="128016"/>
          </a:xfrm>
          <a:prstGeom prst="rect">
            <a:avLst/>
          </a:prstGeom>
          <a:solidFill>
            <a:srgbClr val="14213D"/>
          </a:solidFill>
          <a:ln w="12700">
            <a:solidFill>
              <a:srgbClr val="14213D"/>
            </a:solidFill>
            <a:prstDash val="solid"/>
          </a:ln>
        </p:spPr>
      </p:sp>
      <p:sp>
        <p:nvSpPr>
          <p:cNvPr id="4" name="Text 2"/>
          <p:cNvSpPr/>
          <p:nvPr/>
        </p:nvSpPr>
        <p:spPr>
          <a:xfrm>
            <a:off x="566928" y="384048"/>
            <a:ext cx="3840480" cy="228600"/>
          </a:xfrm>
          <a:prstGeom prst="rect">
            <a:avLst/>
          </a:prstGeom>
          <a:noFill/>
          <a:ln/>
        </p:spPr>
        <p:txBody>
          <a:bodyPr wrap="square" lIns="0" tIns="0" rIns="0" bIns="0" rtlCol="0" anchor="ctr"/>
          <a:lstStyle/>
          <a:p>
            <a:pPr marL="0" indent="0">
              <a:buNone/>
            </a:pPr>
            <a:r>
              <a:rPr lang="en-US" sz="1000" b="1" dirty="0">
                <a:solidFill>
                  <a:srgbClr val="2563EB"/>
                </a:solidFill>
                <a:latin typeface="Noto Sans CJK KR" pitchFamily="34" charset="0"/>
                <a:ea typeface="Noto Sans CJK KR" pitchFamily="34" charset="-122"/>
                <a:cs typeface="Noto Sans CJK KR" pitchFamily="34" charset="-120"/>
              </a:rPr>
              <a:t>03 · Demo Flow</a:t>
            </a:r>
            <a:endParaRPr lang="en-US" sz="1000" dirty="0"/>
          </a:p>
        </p:txBody>
      </p:sp>
      <p:sp>
        <p:nvSpPr>
          <p:cNvPr id="5" name="Text 3"/>
          <p:cNvSpPr/>
          <p:nvPr/>
        </p:nvSpPr>
        <p:spPr>
          <a:xfrm>
            <a:off x="566928" y="676656"/>
            <a:ext cx="11064240" cy="457200"/>
          </a:xfrm>
          <a:prstGeom prst="rect">
            <a:avLst/>
          </a:prstGeom>
          <a:noFill/>
          <a:ln/>
        </p:spPr>
        <p:txBody>
          <a:bodyPr wrap="square" lIns="0" tIns="0" rIns="0" bIns="0" rtlCol="0" anchor="ctr">
            <a:normAutofit/>
          </a:bodyPr>
          <a:lstStyle/>
          <a:p>
            <a:pPr marL="0" indent="0">
              <a:buNone/>
            </a:pPr>
            <a:r>
              <a:rPr lang="en-US" sz="2350" b="1" dirty="0">
                <a:solidFill>
                  <a:srgbClr val="14213D"/>
                </a:solidFill>
                <a:latin typeface="Noto Sans CJK KR" pitchFamily="34" charset="0"/>
                <a:ea typeface="Noto Sans CJK KR" pitchFamily="34" charset="-122"/>
                <a:cs typeface="Noto Sans CJK KR" pitchFamily="34" charset="-120"/>
              </a:rPr>
              <a:t>데모 흐름: 답변에서 끝내지 않고, 승인 가능한 예약안까지 만듭니다</a:t>
            </a:r>
            <a:endParaRPr lang="en-US" sz="2350" dirty="0"/>
          </a:p>
        </p:txBody>
      </p:sp>
      <p:sp>
        <p:nvSpPr>
          <p:cNvPr id="6" name="Text 4"/>
          <p:cNvSpPr/>
          <p:nvPr/>
        </p:nvSpPr>
        <p:spPr>
          <a:xfrm>
            <a:off x="640080" y="1417320"/>
            <a:ext cx="4754880" cy="256032"/>
          </a:xfrm>
          <a:prstGeom prst="rect">
            <a:avLst/>
          </a:prstGeom>
          <a:noFill/>
          <a:ln/>
        </p:spPr>
        <p:txBody>
          <a:bodyPr wrap="square" lIns="254" tIns="254" rIns="254" bIns="254" rtlCol="0" anchor="t">
            <a:normAutofit/>
          </a:bodyPr>
          <a:lstStyle/>
          <a:p>
            <a:pPr marL="0" indent="0" algn="l">
              <a:buNone/>
            </a:pPr>
            <a:r>
              <a:rPr lang="en-US" sz="1050" b="1" dirty="0">
                <a:solidFill>
                  <a:srgbClr val="2563EB"/>
                </a:solidFill>
                <a:latin typeface="Noto Sans CJK KR" pitchFamily="34" charset="0"/>
                <a:ea typeface="Noto Sans CJK KR" pitchFamily="34" charset="-122"/>
                <a:cs typeface="Noto Sans CJK KR" pitchFamily="34" charset="-120"/>
              </a:rPr>
              <a:t>대표 시나리오: EX-1001 / 오후 예약 요청</a:t>
            </a:r>
            <a:endParaRPr lang="en-US" sz="1050" dirty="0"/>
          </a:p>
        </p:txBody>
      </p:sp>
      <p:sp>
        <p:nvSpPr>
          <p:cNvPr id="7" name="Text 5"/>
          <p:cNvSpPr/>
          <p:nvPr/>
        </p:nvSpPr>
        <p:spPr>
          <a:xfrm>
            <a:off x="777240" y="1856232"/>
            <a:ext cx="1572768" cy="749808"/>
          </a:xfrm>
          <a:prstGeom prst="rect">
            <a:avLst/>
          </a:prstGeom>
          <a:solidFill>
            <a:srgbClr val="EAF2FF"/>
          </a:solidFill>
          <a:ln w="12700">
            <a:solidFill>
              <a:srgbClr val="2563EB"/>
            </a:solidFill>
          </a:ln>
        </p:spPr>
        <p:txBody>
          <a:bodyPr wrap="square" lIns="1016" tIns="1016" rIns="1016" bIns="1016" rtlCol="0" anchor="ctr">
            <a:normAutofit/>
          </a:bodyPr>
          <a:lstStyle/>
          <a:p>
            <a:pPr marL="0" indent="0" algn="ctr">
              <a:buNone/>
            </a:pPr>
            <a:r>
              <a:rPr lang="en-US" sz="1180" b="1" dirty="0">
                <a:solidFill>
                  <a:srgbClr val="14213D"/>
                </a:solidFill>
                <a:latin typeface="Noto Sans CJK KR" pitchFamily="34" charset="0"/>
                <a:ea typeface="Noto Sans CJK KR" pitchFamily="34" charset="-122"/>
                <a:cs typeface="Noto Sans CJK KR" pitchFamily="34" charset="-120"/>
              </a:rPr>
              <a:t>1</a:t>
            </a:r>
            <a:endParaRPr lang="en-US" sz="1180" dirty="0"/>
          </a:p>
          <a:p>
            <a:pPr marL="0" indent="0" algn="ctr">
              <a:buNone/>
            </a:pPr>
            <a:r>
              <a:rPr lang="en-US" sz="1180" b="1" dirty="0">
                <a:solidFill>
                  <a:srgbClr val="14213D"/>
                </a:solidFill>
                <a:latin typeface="Noto Sans CJK KR" pitchFamily="34" charset="0"/>
                <a:ea typeface="Noto Sans CJK KR" pitchFamily="34" charset="-122"/>
                <a:cs typeface="Noto Sans CJK KR" pitchFamily="34" charset="-120"/>
              </a:rPr>
              <a:t>의뢰 접수 완료</a:t>
            </a:r>
            <a:endParaRPr lang="en-US" sz="1180" dirty="0"/>
          </a:p>
        </p:txBody>
      </p:sp>
      <p:sp>
        <p:nvSpPr>
          <p:cNvPr id="8" name="Shape 6"/>
          <p:cNvSpPr/>
          <p:nvPr/>
        </p:nvSpPr>
        <p:spPr>
          <a:xfrm>
            <a:off x="2459736" y="2231136"/>
            <a:ext cx="137160" cy="0"/>
          </a:xfrm>
          <a:prstGeom prst="line">
            <a:avLst/>
          </a:prstGeom>
          <a:noFill/>
          <a:ln w="14605">
            <a:solidFill>
              <a:srgbClr val="64748B"/>
            </a:solidFill>
            <a:prstDash val="solid"/>
            <a:headEnd type="none"/>
            <a:tailEnd type="triangle"/>
          </a:ln>
        </p:spPr>
      </p:sp>
      <p:sp>
        <p:nvSpPr>
          <p:cNvPr id="9" name="Text 7"/>
          <p:cNvSpPr/>
          <p:nvPr/>
        </p:nvSpPr>
        <p:spPr>
          <a:xfrm>
            <a:off x="2706624" y="1856232"/>
            <a:ext cx="1737360" cy="749808"/>
          </a:xfrm>
          <a:prstGeom prst="rect">
            <a:avLst/>
          </a:prstGeom>
          <a:solidFill>
            <a:srgbClr val="EAF2FF"/>
          </a:solidFill>
          <a:ln w="12700">
            <a:solidFill>
              <a:srgbClr val="2563EB"/>
            </a:solidFill>
          </a:ln>
        </p:spPr>
        <p:txBody>
          <a:bodyPr wrap="square" lIns="1016" tIns="1016" rIns="1016" bIns="1016" rtlCol="0" anchor="ctr">
            <a:normAutofit/>
          </a:bodyPr>
          <a:lstStyle/>
          <a:p>
            <a:pPr marL="0" indent="0" algn="ctr">
              <a:buNone/>
            </a:pPr>
            <a:r>
              <a:rPr lang="en-US" sz="1180" b="1" dirty="0">
                <a:solidFill>
                  <a:srgbClr val="14213D"/>
                </a:solidFill>
                <a:latin typeface="Noto Sans CJK KR" pitchFamily="34" charset="0"/>
                <a:ea typeface="Noto Sans CJK KR" pitchFamily="34" charset="-122"/>
                <a:cs typeface="Noto Sans CJK KR" pitchFamily="34" charset="-120"/>
              </a:rPr>
              <a:t>2</a:t>
            </a:r>
            <a:endParaRPr lang="en-US" sz="1180" dirty="0"/>
          </a:p>
          <a:p>
            <a:pPr marL="0" indent="0" algn="ctr">
              <a:buNone/>
            </a:pPr>
            <a:r>
              <a:rPr lang="en-US" sz="1180" b="1" dirty="0">
                <a:solidFill>
                  <a:srgbClr val="14213D"/>
                </a:solidFill>
                <a:latin typeface="Noto Sans CJK KR" pitchFamily="34" charset="0"/>
                <a:ea typeface="Noto Sans CJK KR" pitchFamily="34" charset="-122"/>
                <a:cs typeface="Noto Sans CJK KR" pitchFamily="34" charset="-120"/>
              </a:rPr>
              <a:t>“오후” 선호 추출</a:t>
            </a:r>
            <a:endParaRPr lang="en-US" sz="1180" dirty="0"/>
          </a:p>
        </p:txBody>
      </p:sp>
      <p:sp>
        <p:nvSpPr>
          <p:cNvPr id="10" name="Shape 8"/>
          <p:cNvSpPr/>
          <p:nvPr/>
        </p:nvSpPr>
        <p:spPr>
          <a:xfrm>
            <a:off x="4553712" y="2231136"/>
            <a:ext cx="64008" cy="0"/>
          </a:xfrm>
          <a:prstGeom prst="line">
            <a:avLst/>
          </a:prstGeom>
          <a:noFill/>
          <a:ln w="14605">
            <a:solidFill>
              <a:srgbClr val="64748B"/>
            </a:solidFill>
            <a:prstDash val="solid"/>
            <a:headEnd type="none"/>
            <a:tailEnd type="triangle"/>
          </a:ln>
        </p:spPr>
      </p:sp>
      <p:sp>
        <p:nvSpPr>
          <p:cNvPr id="11" name="Text 9"/>
          <p:cNvSpPr/>
          <p:nvPr/>
        </p:nvSpPr>
        <p:spPr>
          <a:xfrm>
            <a:off x="4727448" y="1856232"/>
            <a:ext cx="1792224" cy="749808"/>
          </a:xfrm>
          <a:prstGeom prst="rect">
            <a:avLst/>
          </a:prstGeom>
          <a:solidFill>
            <a:srgbClr val="E9FBF7"/>
          </a:solidFill>
          <a:ln w="12700">
            <a:solidFill>
              <a:srgbClr val="14B8A6"/>
            </a:solidFill>
          </a:ln>
        </p:spPr>
        <p:txBody>
          <a:bodyPr wrap="square" lIns="1016" tIns="1016" rIns="1016" bIns="1016" rtlCol="0" anchor="ctr">
            <a:normAutofit/>
          </a:bodyPr>
          <a:lstStyle/>
          <a:p>
            <a:pPr marL="0" indent="0" algn="ctr">
              <a:buNone/>
            </a:pPr>
            <a:r>
              <a:rPr lang="en-US" sz="1180" b="1" dirty="0">
                <a:solidFill>
                  <a:srgbClr val="14213D"/>
                </a:solidFill>
                <a:latin typeface="Noto Sans CJK KR" pitchFamily="34" charset="0"/>
                <a:ea typeface="Noto Sans CJK KR" pitchFamily="34" charset="-122"/>
                <a:cs typeface="Noto Sans CJK KR" pitchFamily="34" charset="-120"/>
              </a:rPr>
              <a:t>3</a:t>
            </a:r>
            <a:endParaRPr lang="en-US" sz="1180" dirty="0"/>
          </a:p>
          <a:p>
            <a:pPr marL="0" indent="0" algn="ctr">
              <a:buNone/>
            </a:pPr>
            <a:r>
              <a:rPr lang="en-US" sz="1180" b="1" dirty="0">
                <a:solidFill>
                  <a:srgbClr val="14213D"/>
                </a:solidFill>
                <a:latin typeface="Noto Sans CJK KR" pitchFamily="34" charset="0"/>
                <a:ea typeface="Noto Sans CJK KR" pitchFamily="34" charset="-122"/>
                <a:cs typeface="Noto Sans CJK KR" pitchFamily="34" charset="-120"/>
              </a:rPr>
              <a:t>CT-PM / 14:00 제안</a:t>
            </a:r>
            <a:endParaRPr lang="en-US" sz="1180" dirty="0"/>
          </a:p>
        </p:txBody>
      </p:sp>
      <p:sp>
        <p:nvSpPr>
          <p:cNvPr id="12" name="Shape 10"/>
          <p:cNvSpPr/>
          <p:nvPr/>
        </p:nvSpPr>
        <p:spPr>
          <a:xfrm>
            <a:off x="6629400" y="2231136"/>
            <a:ext cx="9144" cy="0"/>
          </a:xfrm>
          <a:prstGeom prst="line">
            <a:avLst/>
          </a:prstGeom>
          <a:noFill/>
          <a:ln w="14605">
            <a:solidFill>
              <a:srgbClr val="64748B"/>
            </a:solidFill>
            <a:prstDash val="solid"/>
            <a:headEnd type="none"/>
            <a:tailEnd type="triangle"/>
          </a:ln>
        </p:spPr>
      </p:sp>
      <p:sp>
        <p:nvSpPr>
          <p:cNvPr id="13" name="Text 11"/>
          <p:cNvSpPr/>
          <p:nvPr/>
        </p:nvSpPr>
        <p:spPr>
          <a:xfrm>
            <a:off x="6748272" y="1856232"/>
            <a:ext cx="1572768" cy="749808"/>
          </a:xfrm>
          <a:prstGeom prst="rect">
            <a:avLst/>
          </a:prstGeom>
          <a:solidFill>
            <a:srgbClr val="FFF7E6"/>
          </a:solidFill>
          <a:ln w="12700">
            <a:solidFill>
              <a:srgbClr val="F59E0B"/>
            </a:solidFill>
          </a:ln>
        </p:spPr>
        <p:txBody>
          <a:bodyPr wrap="square" lIns="1016" tIns="1016" rIns="1016" bIns="1016" rtlCol="0" anchor="ctr">
            <a:normAutofit/>
          </a:bodyPr>
          <a:lstStyle/>
          <a:p>
            <a:pPr marL="0" indent="0" algn="ctr">
              <a:buNone/>
            </a:pPr>
            <a:r>
              <a:rPr lang="en-US" sz="1180" b="1" dirty="0">
                <a:solidFill>
                  <a:srgbClr val="14213D"/>
                </a:solidFill>
                <a:latin typeface="Noto Sans CJK KR" pitchFamily="34" charset="0"/>
                <a:ea typeface="Noto Sans CJK KR" pitchFamily="34" charset="-122"/>
                <a:cs typeface="Noto Sans CJK KR" pitchFamily="34" charset="-120"/>
              </a:rPr>
              <a:t>4</a:t>
            </a:r>
            <a:endParaRPr lang="en-US" sz="1180" dirty="0"/>
          </a:p>
          <a:p>
            <a:pPr marL="0" indent="0" algn="ctr">
              <a:buNone/>
            </a:pPr>
            <a:r>
              <a:rPr lang="en-US" sz="1180" b="1" dirty="0">
                <a:solidFill>
                  <a:srgbClr val="14213D"/>
                </a:solidFill>
                <a:latin typeface="Noto Sans CJK KR" pitchFamily="34" charset="0"/>
                <a:ea typeface="Noto Sans CJK KR" pitchFamily="34" charset="-122"/>
                <a:cs typeface="Noto Sans CJK KR" pitchFamily="34" charset="-120"/>
              </a:rPr>
              <a:t>담당자 승인</a:t>
            </a:r>
            <a:endParaRPr lang="en-US" sz="1180" dirty="0"/>
          </a:p>
        </p:txBody>
      </p:sp>
      <p:sp>
        <p:nvSpPr>
          <p:cNvPr id="14" name="Shape 12"/>
          <p:cNvSpPr/>
          <p:nvPr/>
        </p:nvSpPr>
        <p:spPr>
          <a:xfrm>
            <a:off x="8430768" y="2231136"/>
            <a:ext cx="137160" cy="0"/>
          </a:xfrm>
          <a:prstGeom prst="line">
            <a:avLst/>
          </a:prstGeom>
          <a:noFill/>
          <a:ln w="14605">
            <a:solidFill>
              <a:srgbClr val="64748B"/>
            </a:solidFill>
            <a:prstDash val="solid"/>
            <a:headEnd type="none"/>
            <a:tailEnd type="triangle"/>
          </a:ln>
        </p:spPr>
      </p:sp>
      <p:sp>
        <p:nvSpPr>
          <p:cNvPr id="15" name="Text 13"/>
          <p:cNvSpPr/>
          <p:nvPr/>
        </p:nvSpPr>
        <p:spPr>
          <a:xfrm>
            <a:off x="8677656" y="1856232"/>
            <a:ext cx="1417320" cy="749808"/>
          </a:xfrm>
          <a:prstGeom prst="rect">
            <a:avLst/>
          </a:prstGeom>
          <a:solidFill>
            <a:srgbClr val="FFFFFF"/>
          </a:solidFill>
          <a:ln w="12700">
            <a:solidFill>
              <a:srgbClr val="14213D"/>
            </a:solidFill>
          </a:ln>
        </p:spPr>
        <p:txBody>
          <a:bodyPr wrap="square" lIns="1016" tIns="1016" rIns="1016" bIns="1016" rtlCol="0" anchor="ctr">
            <a:normAutofit/>
          </a:bodyPr>
          <a:lstStyle/>
          <a:p>
            <a:pPr marL="0" indent="0" algn="ctr">
              <a:buNone/>
            </a:pPr>
            <a:r>
              <a:rPr lang="en-US" sz="1180" b="1" dirty="0">
                <a:solidFill>
                  <a:srgbClr val="14213D"/>
                </a:solidFill>
                <a:latin typeface="Noto Sans CJK KR" pitchFamily="34" charset="0"/>
                <a:ea typeface="Noto Sans CJK KR" pitchFamily="34" charset="-122"/>
                <a:cs typeface="Noto Sans CJK KR" pitchFamily="34" charset="-120"/>
              </a:rPr>
              <a:t>5</a:t>
            </a:r>
            <a:endParaRPr lang="en-US" sz="1180" dirty="0"/>
          </a:p>
          <a:p>
            <a:pPr marL="0" indent="0" algn="ctr">
              <a:buNone/>
            </a:pPr>
            <a:r>
              <a:rPr lang="en-US" sz="1180" b="1" dirty="0">
                <a:solidFill>
                  <a:srgbClr val="14213D"/>
                </a:solidFill>
                <a:latin typeface="Noto Sans CJK KR" pitchFamily="34" charset="0"/>
                <a:ea typeface="Noto Sans CJK KR" pitchFamily="34" charset="-122"/>
                <a:cs typeface="Noto Sans CJK KR" pitchFamily="34" charset="-120"/>
              </a:rPr>
              <a:t>confirmed</a:t>
            </a:r>
            <a:endParaRPr lang="en-US" sz="1180" dirty="0"/>
          </a:p>
        </p:txBody>
      </p:sp>
      <p:sp>
        <p:nvSpPr>
          <p:cNvPr id="16" name="Text 14"/>
          <p:cNvSpPr/>
          <p:nvPr/>
        </p:nvSpPr>
        <p:spPr>
          <a:xfrm>
            <a:off x="685800" y="3657600"/>
            <a:ext cx="2377440" cy="256032"/>
          </a:xfrm>
          <a:prstGeom prst="rect">
            <a:avLst/>
          </a:prstGeom>
          <a:noFill/>
          <a:ln/>
        </p:spPr>
        <p:txBody>
          <a:bodyPr wrap="square" lIns="254" tIns="254" rIns="254" bIns="254" rtlCol="0" anchor="t">
            <a:normAutofit/>
          </a:bodyPr>
          <a:lstStyle/>
          <a:p>
            <a:pPr marL="0" indent="0" algn="l">
              <a:buNone/>
            </a:pPr>
            <a:r>
              <a:rPr lang="en-US" sz="1050" b="1" dirty="0">
                <a:solidFill>
                  <a:srgbClr val="DC2626"/>
                </a:solidFill>
                <a:latin typeface="Noto Sans CJK KR" pitchFamily="34" charset="0"/>
                <a:ea typeface="Noto Sans CJK KR" pitchFamily="34" charset="-122"/>
                <a:cs typeface="Noto Sans CJK KR" pitchFamily="34" charset="-120"/>
              </a:rPr>
              <a:t>예외 흐름도 같이 확인</a:t>
            </a:r>
            <a:endParaRPr lang="en-US" sz="1050" dirty="0"/>
          </a:p>
        </p:txBody>
      </p:sp>
      <p:sp>
        <p:nvSpPr>
          <p:cNvPr id="17" name="Text 15"/>
          <p:cNvSpPr/>
          <p:nvPr/>
        </p:nvSpPr>
        <p:spPr>
          <a:xfrm>
            <a:off x="914400" y="4096512"/>
            <a:ext cx="2560320" cy="877824"/>
          </a:xfrm>
          <a:prstGeom prst="rect">
            <a:avLst/>
          </a:prstGeom>
          <a:solidFill>
            <a:srgbClr val="FFF1F2"/>
          </a:solidFill>
          <a:ln w="12700">
            <a:solidFill>
              <a:srgbClr val="DC2626"/>
            </a:solidFill>
          </a:ln>
        </p:spPr>
        <p:txBody>
          <a:bodyPr wrap="square" lIns="1016" tIns="1016" rIns="1016" bIns="1016" rtlCol="0" anchor="ctr">
            <a:normAutofit/>
          </a:bodyPr>
          <a:lstStyle/>
          <a:p>
            <a:pPr marL="0" indent="0" algn="ctr">
              <a:buNone/>
            </a:pPr>
            <a:r>
              <a:rPr lang="en-US" sz="1200" b="1" dirty="0">
                <a:solidFill>
                  <a:srgbClr val="14213D"/>
                </a:solidFill>
                <a:latin typeface="Noto Sans CJK KR" pitchFamily="34" charset="0"/>
                <a:ea typeface="Noto Sans CJK KR" pitchFamily="34" charset="-122"/>
                <a:cs typeface="Noto Sans CJK KR" pitchFamily="34" charset="-120"/>
              </a:rPr>
              <a:t>EX-1002</a:t>
            </a:r>
            <a:endParaRPr lang="en-US" sz="1200" dirty="0"/>
          </a:p>
          <a:p>
            <a:pPr marL="0" indent="0" algn="ctr">
              <a:buNone/>
            </a:pPr>
            <a:r>
              <a:rPr lang="en-US" sz="1200" b="1" dirty="0">
                <a:solidFill>
                  <a:srgbClr val="14213D"/>
                </a:solidFill>
                <a:latin typeface="Noto Sans CJK KR" pitchFamily="34" charset="0"/>
                <a:ea typeface="Noto Sans CJK KR" pitchFamily="34" charset="-122"/>
                <a:cs typeface="Noto Sans CJK KR" pitchFamily="34" charset="-120"/>
              </a:rPr>
              <a:t>서류 누락</a:t>
            </a:r>
            <a:endParaRPr lang="en-US" sz="1200" dirty="0"/>
          </a:p>
          <a:p>
            <a:pPr marL="0" indent="0" algn="ctr">
              <a:buNone/>
            </a:pPr>
            <a:r>
              <a:rPr lang="en-US" sz="1200" b="1" dirty="0">
                <a:solidFill>
                  <a:srgbClr val="14213D"/>
                </a:solidFill>
                <a:latin typeface="Noto Sans CJK KR" pitchFamily="34" charset="0"/>
                <a:ea typeface="Noto Sans CJK KR" pitchFamily="34" charset="-122"/>
                <a:cs typeface="Noto Sans CJK KR" pitchFamily="34" charset="-120"/>
              </a:rPr>
              <a:t>→ needs_input</a:t>
            </a:r>
            <a:endParaRPr lang="en-US" sz="1200" dirty="0"/>
          </a:p>
        </p:txBody>
      </p:sp>
      <p:sp>
        <p:nvSpPr>
          <p:cNvPr id="18" name="Text 16"/>
          <p:cNvSpPr/>
          <p:nvPr/>
        </p:nvSpPr>
        <p:spPr>
          <a:xfrm>
            <a:off x="4800600" y="4096512"/>
            <a:ext cx="2560320" cy="877824"/>
          </a:xfrm>
          <a:prstGeom prst="rect">
            <a:avLst/>
          </a:prstGeom>
          <a:solidFill>
            <a:srgbClr val="FFF7E6"/>
          </a:solidFill>
          <a:ln w="12700">
            <a:solidFill>
              <a:srgbClr val="F59E0B"/>
            </a:solidFill>
          </a:ln>
        </p:spPr>
        <p:txBody>
          <a:bodyPr wrap="square" lIns="1016" tIns="1016" rIns="1016" bIns="1016" rtlCol="0" anchor="ctr">
            <a:normAutofit/>
          </a:bodyPr>
          <a:lstStyle/>
          <a:p>
            <a:pPr marL="0" indent="0" algn="ctr">
              <a:buNone/>
            </a:pPr>
            <a:r>
              <a:rPr lang="en-US" sz="1200" b="1" dirty="0">
                <a:solidFill>
                  <a:srgbClr val="14213D"/>
                </a:solidFill>
                <a:latin typeface="Noto Sans CJK KR" pitchFamily="34" charset="0"/>
                <a:ea typeface="Noto Sans CJK KR" pitchFamily="34" charset="-122"/>
                <a:cs typeface="Noto Sans CJK KR" pitchFamily="34" charset="-120"/>
              </a:rPr>
              <a:t>EX-1003</a:t>
            </a:r>
            <a:endParaRPr lang="en-US" sz="1200" dirty="0"/>
          </a:p>
          <a:p>
            <a:pPr marL="0" indent="0" algn="ctr">
              <a:buNone/>
            </a:pPr>
            <a:r>
              <a:rPr lang="en-US" sz="1200" b="1" dirty="0">
                <a:solidFill>
                  <a:srgbClr val="14213D"/>
                </a:solidFill>
                <a:latin typeface="Noto Sans CJK KR" pitchFamily="34" charset="0"/>
                <a:ea typeface="Noto Sans CJK KR" pitchFamily="34" charset="-122"/>
                <a:cs typeface="Noto Sans CJK KR" pitchFamily="34" charset="-120"/>
              </a:rPr>
              <a:t>후보 없음</a:t>
            </a:r>
            <a:endParaRPr lang="en-US" sz="1200" dirty="0"/>
          </a:p>
          <a:p>
            <a:pPr marL="0" indent="0" algn="ctr">
              <a:buNone/>
            </a:pPr>
            <a:r>
              <a:rPr lang="en-US" sz="1200" b="1" dirty="0">
                <a:solidFill>
                  <a:srgbClr val="14213D"/>
                </a:solidFill>
                <a:latin typeface="Noto Sans CJK KR" pitchFamily="34" charset="0"/>
                <a:ea typeface="Noto Sans CJK KR" pitchFamily="34" charset="-122"/>
                <a:cs typeface="Noto Sans CJK KR" pitchFamily="34" charset="-120"/>
              </a:rPr>
              <a:t>→ no_slots</a:t>
            </a:r>
            <a:endParaRPr lang="en-US" sz="1200" dirty="0"/>
          </a:p>
        </p:txBody>
      </p:sp>
      <p:sp>
        <p:nvSpPr>
          <p:cNvPr id="19" name="Text 17"/>
          <p:cNvSpPr/>
          <p:nvPr/>
        </p:nvSpPr>
        <p:spPr>
          <a:xfrm>
            <a:off x="8686800" y="4096512"/>
            <a:ext cx="2560320" cy="877824"/>
          </a:xfrm>
          <a:prstGeom prst="rect">
            <a:avLst/>
          </a:prstGeom>
          <a:solidFill>
            <a:srgbClr val="FFFFFF"/>
          </a:solidFill>
          <a:ln w="12700">
            <a:solidFill>
              <a:srgbClr val="14213D"/>
            </a:solidFill>
          </a:ln>
        </p:spPr>
        <p:txBody>
          <a:bodyPr wrap="square" lIns="1016" tIns="1016" rIns="1016" bIns="1016" rtlCol="0" anchor="ctr">
            <a:normAutofit/>
          </a:bodyPr>
          <a:lstStyle/>
          <a:p>
            <a:pPr marL="0" indent="0" algn="ctr">
              <a:buNone/>
            </a:pPr>
            <a:r>
              <a:rPr lang="en-US" sz="1200" b="1" dirty="0">
                <a:solidFill>
                  <a:srgbClr val="14213D"/>
                </a:solidFill>
                <a:latin typeface="Noto Sans CJK KR" pitchFamily="34" charset="0"/>
                <a:ea typeface="Noto Sans CJK KR" pitchFamily="34" charset="-122"/>
                <a:cs typeface="Noto Sans CJK KR" pitchFamily="34" charset="-120"/>
              </a:rPr>
              <a:t>동일 슬롯 경쟁</a:t>
            </a:r>
            <a:endParaRPr lang="en-US" sz="1200" dirty="0"/>
          </a:p>
          <a:p>
            <a:pPr marL="0" indent="0" algn="ctr">
              <a:buNone/>
            </a:pPr>
            <a:r>
              <a:rPr lang="en-US" sz="1200" b="1" dirty="0">
                <a:solidFill>
                  <a:srgbClr val="14213D"/>
                </a:solidFill>
                <a:latin typeface="Noto Sans CJK KR" pitchFamily="34" charset="0"/>
                <a:ea typeface="Noto Sans CJK KR" pitchFamily="34" charset="-122"/>
                <a:cs typeface="Noto Sans CJK KR" pitchFamily="34" charset="-120"/>
              </a:rPr>
              <a:t>DB 제약으로</a:t>
            </a:r>
            <a:endParaRPr lang="en-US" sz="1200" dirty="0"/>
          </a:p>
          <a:p>
            <a:pPr marL="0" indent="0" algn="ctr">
              <a:buNone/>
            </a:pPr>
            <a:r>
              <a:rPr lang="en-US" sz="1200" b="1" dirty="0">
                <a:solidFill>
                  <a:srgbClr val="14213D"/>
                </a:solidFill>
                <a:latin typeface="Noto Sans CJK KR" pitchFamily="34" charset="0"/>
                <a:ea typeface="Noto Sans CJK KR" pitchFamily="34" charset="-122"/>
                <a:cs typeface="Noto Sans CJK KR" pitchFamily="34" charset="-120"/>
              </a:rPr>
              <a:t>1건만 확정</a:t>
            </a:r>
            <a:endParaRPr lang="en-US" sz="1200" dirty="0"/>
          </a:p>
        </p:txBody>
      </p:sp>
      <p:sp>
        <p:nvSpPr>
          <p:cNvPr id="20" name="Text 18"/>
          <p:cNvSpPr/>
          <p:nvPr/>
        </p:nvSpPr>
        <p:spPr>
          <a:xfrm>
            <a:off x="1051560" y="5596128"/>
            <a:ext cx="10058400" cy="310896"/>
          </a:xfrm>
          <a:prstGeom prst="rect">
            <a:avLst/>
          </a:prstGeom>
          <a:noFill/>
          <a:ln/>
        </p:spPr>
        <p:txBody>
          <a:bodyPr wrap="square" lIns="254" tIns="254" rIns="254" bIns="254" rtlCol="0" anchor="t">
            <a:normAutofit/>
          </a:bodyPr>
          <a:lstStyle/>
          <a:p>
            <a:pPr marL="0" indent="0" algn="ctr">
              <a:buNone/>
            </a:pPr>
            <a:r>
              <a:rPr lang="en-US" sz="1520" b="1" dirty="0">
                <a:solidFill>
                  <a:srgbClr val="14213D"/>
                </a:solidFill>
                <a:latin typeface="Noto Sans CJK KR" pitchFamily="34" charset="0"/>
                <a:ea typeface="Noto Sans CJK KR" pitchFamily="34" charset="-122"/>
                <a:cs typeface="Noto Sans CJK KR" pitchFamily="34" charset="-120"/>
              </a:rPr>
              <a:t>UI에서는 A2A Task ID와 MCP 호출 인수·결과를 펼쳐 실제 처리 흐름을 확인할 수 있습니다.</a:t>
            </a:r>
            <a:endParaRPr lang="en-US" sz="1520" dirty="0"/>
          </a:p>
        </p:txBody>
      </p:sp>
      <p:sp>
        <p:nvSpPr>
          <p:cNvPr id="21" name="Text 19"/>
          <p:cNvSpPr/>
          <p:nvPr/>
        </p:nvSpPr>
        <p:spPr>
          <a:xfrm>
            <a:off x="10561320" y="6446520"/>
            <a:ext cx="1051560" cy="164592"/>
          </a:xfrm>
          <a:prstGeom prst="rect">
            <a:avLst/>
          </a:prstGeom>
          <a:noFill/>
          <a:ln/>
        </p:spPr>
        <p:txBody>
          <a:bodyPr wrap="square" lIns="0" tIns="0" rIns="0" bIns="0" rtlCol="0" anchor="ctr"/>
          <a:lstStyle/>
          <a:p>
            <a:pPr marL="0" indent="0" algn="r">
              <a:buNone/>
            </a:pPr>
            <a:r>
              <a:rPr lang="en-US" sz="750" dirty="0">
                <a:solidFill>
                  <a:srgbClr val="64748B"/>
                </a:solidFill>
                <a:latin typeface="Noto Sans CJK KR" pitchFamily="34" charset="0"/>
                <a:ea typeface="Noto Sans CJK KR" pitchFamily="34" charset="-122"/>
                <a:cs typeface="Noto Sans CJK KR" pitchFamily="34" charset="-120"/>
              </a:rPr>
              <a:t>ExamFlow · 4/7</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4213D"/>
          </a:solidFill>
          <a:ln w="12700">
            <a:solidFill>
              <a:srgbClr val="14213D"/>
            </a:solidFill>
            <a:prstDash val="solid"/>
          </a:ln>
        </p:spPr>
      </p:sp>
      <p:sp>
        <p:nvSpPr>
          <p:cNvPr id="3" name="Shape 1"/>
          <p:cNvSpPr/>
          <p:nvPr/>
        </p:nvSpPr>
        <p:spPr>
          <a:xfrm>
            <a:off x="0" y="6729984"/>
            <a:ext cx="12191695" cy="128016"/>
          </a:xfrm>
          <a:prstGeom prst="rect">
            <a:avLst/>
          </a:prstGeom>
          <a:solidFill>
            <a:srgbClr val="14213D"/>
          </a:solidFill>
          <a:ln w="12700">
            <a:solidFill>
              <a:srgbClr val="14213D"/>
            </a:solidFill>
            <a:prstDash val="solid"/>
          </a:ln>
        </p:spPr>
      </p:sp>
      <p:sp>
        <p:nvSpPr>
          <p:cNvPr id="4" name="Text 2"/>
          <p:cNvSpPr/>
          <p:nvPr/>
        </p:nvSpPr>
        <p:spPr>
          <a:xfrm>
            <a:off x="566928" y="384048"/>
            <a:ext cx="3840480" cy="228600"/>
          </a:xfrm>
          <a:prstGeom prst="rect">
            <a:avLst/>
          </a:prstGeom>
          <a:noFill/>
          <a:ln/>
        </p:spPr>
        <p:txBody>
          <a:bodyPr wrap="square" lIns="0" tIns="0" rIns="0" bIns="0" rtlCol="0" anchor="ctr"/>
          <a:lstStyle/>
          <a:p>
            <a:pPr marL="0" indent="0">
              <a:buNone/>
            </a:pPr>
            <a:r>
              <a:rPr lang="en-US" sz="1000" b="1" dirty="0">
                <a:solidFill>
                  <a:srgbClr val="2563EB"/>
                </a:solidFill>
                <a:latin typeface="Noto Sans CJK KR" pitchFamily="34" charset="0"/>
                <a:ea typeface="Noto Sans CJK KR" pitchFamily="34" charset="-122"/>
                <a:cs typeface="Noto Sans CJK KR" pitchFamily="34" charset="-120"/>
              </a:rPr>
              <a:t>04 · Prompt / Rule Engineering</a:t>
            </a:r>
            <a:endParaRPr lang="en-US" sz="1000" dirty="0"/>
          </a:p>
        </p:txBody>
      </p:sp>
      <p:sp>
        <p:nvSpPr>
          <p:cNvPr id="5" name="Text 3"/>
          <p:cNvSpPr/>
          <p:nvPr/>
        </p:nvSpPr>
        <p:spPr>
          <a:xfrm>
            <a:off x="566928" y="676656"/>
            <a:ext cx="11064240" cy="457200"/>
          </a:xfrm>
          <a:prstGeom prst="rect">
            <a:avLst/>
          </a:prstGeom>
          <a:noFill/>
          <a:ln/>
        </p:spPr>
        <p:txBody>
          <a:bodyPr wrap="square" lIns="0" tIns="0" rIns="0" bIns="0" rtlCol="0" anchor="ctr">
            <a:normAutofit/>
          </a:bodyPr>
          <a:lstStyle/>
          <a:p>
            <a:pPr marL="0" indent="0">
              <a:buNone/>
            </a:pPr>
            <a:r>
              <a:rPr lang="en-US" sz="2350" b="1" dirty="0">
                <a:solidFill>
                  <a:srgbClr val="14213D"/>
                </a:solidFill>
                <a:latin typeface="Noto Sans CJK KR" pitchFamily="34" charset="0"/>
                <a:ea typeface="Noto Sans CJK KR" pitchFamily="34" charset="-122"/>
                <a:cs typeface="Noto Sans CJK KR" pitchFamily="34" charset="-120"/>
              </a:rPr>
              <a:t>프롬프트와 룰: 모델 출력을 믿기 전에 다시 검증합니다</a:t>
            </a:r>
            <a:endParaRPr lang="en-US" sz="2350" dirty="0"/>
          </a:p>
        </p:txBody>
      </p:sp>
      <p:sp>
        <p:nvSpPr>
          <p:cNvPr id="6" name="Text 4"/>
          <p:cNvSpPr/>
          <p:nvPr/>
        </p:nvSpPr>
        <p:spPr>
          <a:xfrm>
            <a:off x="685800" y="1389888"/>
            <a:ext cx="1645920" cy="256032"/>
          </a:xfrm>
          <a:prstGeom prst="rect">
            <a:avLst/>
          </a:prstGeom>
          <a:noFill/>
          <a:ln/>
        </p:spPr>
        <p:txBody>
          <a:bodyPr wrap="square" lIns="254" tIns="254" rIns="254" bIns="254" rtlCol="0" anchor="t">
            <a:normAutofit/>
          </a:bodyPr>
          <a:lstStyle/>
          <a:p>
            <a:pPr marL="0" indent="0" algn="l">
              <a:buNone/>
            </a:pPr>
            <a:r>
              <a:rPr lang="en-US" sz="1050" b="1" dirty="0">
                <a:solidFill>
                  <a:srgbClr val="2563EB"/>
                </a:solidFill>
                <a:latin typeface="Noto Sans CJK KR" pitchFamily="34" charset="0"/>
                <a:ea typeface="Noto Sans CJK KR" pitchFamily="34" charset="-122"/>
                <a:cs typeface="Noto Sans CJK KR" pitchFamily="34" charset="-120"/>
              </a:rPr>
              <a:t>설계 원칙</a:t>
            </a:r>
            <a:endParaRPr lang="en-US" sz="1050" dirty="0"/>
          </a:p>
        </p:txBody>
      </p:sp>
      <p:sp>
        <p:nvSpPr>
          <p:cNvPr id="7" name="Text 5"/>
          <p:cNvSpPr/>
          <p:nvPr/>
        </p:nvSpPr>
        <p:spPr>
          <a:xfrm>
            <a:off x="868680" y="1847088"/>
            <a:ext cx="2057400" cy="694944"/>
          </a:xfrm>
          <a:prstGeom prst="rect">
            <a:avLst/>
          </a:prstGeom>
          <a:solidFill>
            <a:srgbClr val="FFFFFF"/>
          </a:solidFill>
          <a:ln w="12700">
            <a:solidFill>
              <a:srgbClr val="CBD5E1"/>
            </a:solidFill>
          </a:ln>
        </p:spPr>
        <p:txBody>
          <a:bodyPr wrap="square" lIns="1016" tIns="1016" rIns="1016" bIns="1016" rtlCol="0" anchor="ctr">
            <a:normAutofit/>
          </a:bodyPr>
          <a:lstStyle/>
          <a:p>
            <a:pPr marL="0" indent="0" algn="ctr">
              <a:buNone/>
            </a:pPr>
            <a:r>
              <a:rPr lang="en-US" sz="1240" b="1" dirty="0">
                <a:solidFill>
                  <a:srgbClr val="14213D"/>
                </a:solidFill>
                <a:latin typeface="Noto Sans CJK KR" pitchFamily="34" charset="0"/>
                <a:ea typeface="Noto Sans CJK KR" pitchFamily="34" charset="-122"/>
                <a:cs typeface="Noto Sans CJK KR" pitchFamily="34" charset="-120"/>
              </a:rPr>
              <a:t>요청은</a:t>
            </a:r>
            <a:endParaRPr lang="en-US" sz="1240" dirty="0"/>
          </a:p>
          <a:p>
            <a:pPr marL="0" indent="0" algn="ctr">
              <a:buNone/>
            </a:pPr>
            <a:r>
              <a:rPr lang="en-US" sz="1240" b="1" dirty="0">
                <a:solidFill>
                  <a:srgbClr val="14213D"/>
                </a:solidFill>
                <a:latin typeface="Noto Sans CJK KR" pitchFamily="34" charset="0"/>
                <a:ea typeface="Noto Sans CJK KR" pitchFamily="34" charset="-122"/>
                <a:cs typeface="Noto Sans CJK KR" pitchFamily="34" charset="-120"/>
              </a:rPr>
              <a:t>그대로 믿지 않기</a:t>
            </a:r>
            <a:endParaRPr lang="en-US" sz="1240" dirty="0"/>
          </a:p>
        </p:txBody>
      </p:sp>
      <p:sp>
        <p:nvSpPr>
          <p:cNvPr id="8" name="Shape 6"/>
          <p:cNvSpPr/>
          <p:nvPr/>
        </p:nvSpPr>
        <p:spPr>
          <a:xfrm>
            <a:off x="3044952" y="2194560"/>
            <a:ext cx="246888" cy="0"/>
          </a:xfrm>
          <a:prstGeom prst="line">
            <a:avLst/>
          </a:prstGeom>
          <a:noFill/>
          <a:ln w="13970">
            <a:solidFill>
              <a:srgbClr val="64748B"/>
            </a:solidFill>
            <a:prstDash val="solid"/>
            <a:headEnd type="none"/>
            <a:tailEnd type="triangle"/>
          </a:ln>
        </p:spPr>
      </p:sp>
      <p:sp>
        <p:nvSpPr>
          <p:cNvPr id="9" name="Text 7"/>
          <p:cNvSpPr/>
          <p:nvPr/>
        </p:nvSpPr>
        <p:spPr>
          <a:xfrm>
            <a:off x="3657600" y="1847088"/>
            <a:ext cx="2057400" cy="694944"/>
          </a:xfrm>
          <a:prstGeom prst="rect">
            <a:avLst/>
          </a:prstGeom>
          <a:solidFill>
            <a:srgbClr val="EAF2FF"/>
          </a:solidFill>
          <a:ln w="12700">
            <a:solidFill>
              <a:srgbClr val="2563EB"/>
            </a:solidFill>
          </a:ln>
        </p:spPr>
        <p:txBody>
          <a:bodyPr wrap="square" lIns="1016" tIns="1016" rIns="1016" bIns="1016" rtlCol="0" anchor="ctr">
            <a:normAutofit/>
          </a:bodyPr>
          <a:lstStyle/>
          <a:p>
            <a:pPr marL="0" indent="0" algn="ctr">
              <a:buNone/>
            </a:pPr>
            <a:r>
              <a:rPr lang="en-US" sz="1240" b="1" dirty="0">
                <a:solidFill>
                  <a:srgbClr val="14213D"/>
                </a:solidFill>
                <a:latin typeface="Noto Sans CJK KR" pitchFamily="34" charset="0"/>
                <a:ea typeface="Noto Sans CJK KR" pitchFamily="34" charset="-122"/>
                <a:cs typeface="Noto Sans CJK KR" pitchFamily="34" charset="-120"/>
              </a:rPr>
              <a:t>근거 데이터는</a:t>
            </a:r>
            <a:endParaRPr lang="en-US" sz="1240" dirty="0"/>
          </a:p>
          <a:p>
            <a:pPr marL="0" indent="0" algn="ctr">
              <a:buNone/>
            </a:pPr>
            <a:r>
              <a:rPr lang="en-US" sz="1240" b="1" dirty="0">
                <a:solidFill>
                  <a:srgbClr val="14213D"/>
                </a:solidFill>
                <a:latin typeface="Noto Sans CJK KR" pitchFamily="34" charset="0"/>
                <a:ea typeface="Noto Sans CJK KR" pitchFamily="34" charset="-122"/>
                <a:cs typeface="Noto Sans CJK KR" pitchFamily="34" charset="-120"/>
              </a:rPr>
              <a:t>evidence로 분리</a:t>
            </a:r>
            <a:endParaRPr lang="en-US" sz="1240" dirty="0"/>
          </a:p>
        </p:txBody>
      </p:sp>
      <p:sp>
        <p:nvSpPr>
          <p:cNvPr id="10" name="Shape 8"/>
          <p:cNvSpPr/>
          <p:nvPr/>
        </p:nvSpPr>
        <p:spPr>
          <a:xfrm>
            <a:off x="5833872" y="2194560"/>
            <a:ext cx="246888" cy="0"/>
          </a:xfrm>
          <a:prstGeom prst="line">
            <a:avLst/>
          </a:prstGeom>
          <a:noFill/>
          <a:ln w="13970">
            <a:solidFill>
              <a:srgbClr val="64748B"/>
            </a:solidFill>
            <a:prstDash val="solid"/>
            <a:headEnd type="none"/>
            <a:tailEnd type="triangle"/>
          </a:ln>
        </p:spPr>
      </p:sp>
      <p:sp>
        <p:nvSpPr>
          <p:cNvPr id="11" name="Text 9"/>
          <p:cNvSpPr/>
          <p:nvPr/>
        </p:nvSpPr>
        <p:spPr>
          <a:xfrm>
            <a:off x="6446520" y="1847088"/>
            <a:ext cx="2057400" cy="694944"/>
          </a:xfrm>
          <a:prstGeom prst="rect">
            <a:avLst/>
          </a:prstGeom>
          <a:solidFill>
            <a:srgbClr val="E9FBF7"/>
          </a:solidFill>
          <a:ln w="12700">
            <a:solidFill>
              <a:srgbClr val="14B8A6"/>
            </a:solidFill>
          </a:ln>
        </p:spPr>
        <p:txBody>
          <a:bodyPr wrap="square" lIns="1016" tIns="1016" rIns="1016" bIns="1016" rtlCol="0" anchor="ctr">
            <a:normAutofit/>
          </a:bodyPr>
          <a:lstStyle/>
          <a:p>
            <a:pPr marL="0" indent="0" algn="ctr">
              <a:buNone/>
            </a:pPr>
            <a:r>
              <a:rPr lang="en-US" sz="1240" b="1" dirty="0">
                <a:solidFill>
                  <a:srgbClr val="14213D"/>
                </a:solidFill>
                <a:latin typeface="Noto Sans CJK KR" pitchFamily="34" charset="0"/>
                <a:ea typeface="Noto Sans CJK KR" pitchFamily="34" charset="-122"/>
                <a:cs typeface="Noto Sans CJK KR" pitchFamily="34" charset="-120"/>
              </a:rPr>
              <a:t>출력은</a:t>
            </a:r>
            <a:endParaRPr lang="en-US" sz="1240" dirty="0"/>
          </a:p>
          <a:p>
            <a:pPr marL="0" indent="0" algn="ctr">
              <a:buNone/>
            </a:pPr>
            <a:r>
              <a:rPr lang="en-US" sz="1240" b="1" dirty="0">
                <a:solidFill>
                  <a:srgbClr val="14213D"/>
                </a:solidFill>
                <a:latin typeface="Noto Sans CJK KR" pitchFamily="34" charset="0"/>
                <a:ea typeface="Noto Sans CJK KR" pitchFamily="34" charset="-122"/>
                <a:cs typeface="Noto Sans CJK KR" pitchFamily="34" charset="-120"/>
              </a:rPr>
              <a:t>JSON으로 제한</a:t>
            </a:r>
            <a:endParaRPr lang="en-US" sz="1240" dirty="0"/>
          </a:p>
        </p:txBody>
      </p:sp>
      <p:sp>
        <p:nvSpPr>
          <p:cNvPr id="12" name="Shape 10"/>
          <p:cNvSpPr/>
          <p:nvPr/>
        </p:nvSpPr>
        <p:spPr>
          <a:xfrm>
            <a:off x="8622792" y="2194560"/>
            <a:ext cx="246888" cy="0"/>
          </a:xfrm>
          <a:prstGeom prst="line">
            <a:avLst/>
          </a:prstGeom>
          <a:noFill/>
          <a:ln w="13970">
            <a:solidFill>
              <a:srgbClr val="64748B"/>
            </a:solidFill>
            <a:prstDash val="solid"/>
            <a:headEnd type="none"/>
            <a:tailEnd type="triangle"/>
          </a:ln>
        </p:spPr>
      </p:sp>
      <p:sp>
        <p:nvSpPr>
          <p:cNvPr id="13" name="Text 11"/>
          <p:cNvSpPr/>
          <p:nvPr/>
        </p:nvSpPr>
        <p:spPr>
          <a:xfrm>
            <a:off x="9235440" y="1847088"/>
            <a:ext cx="2057400" cy="694944"/>
          </a:xfrm>
          <a:prstGeom prst="rect">
            <a:avLst/>
          </a:prstGeom>
          <a:solidFill>
            <a:srgbClr val="FFF7E6"/>
          </a:solidFill>
          <a:ln w="12700">
            <a:solidFill>
              <a:srgbClr val="F59E0B"/>
            </a:solidFill>
          </a:ln>
        </p:spPr>
        <p:txBody>
          <a:bodyPr wrap="square" lIns="1016" tIns="1016" rIns="1016" bIns="1016" rtlCol="0" anchor="ctr">
            <a:normAutofit/>
          </a:bodyPr>
          <a:lstStyle/>
          <a:p>
            <a:pPr marL="0" indent="0" algn="ctr">
              <a:buNone/>
            </a:pPr>
            <a:r>
              <a:rPr lang="en-US" sz="1240" b="1" dirty="0">
                <a:solidFill>
                  <a:srgbClr val="14213D"/>
                </a:solidFill>
                <a:latin typeface="Noto Sans CJK KR" pitchFamily="34" charset="0"/>
                <a:ea typeface="Noto Sans CJK KR" pitchFamily="34" charset="-122"/>
                <a:cs typeface="Noto Sans CJK KR" pitchFamily="34" charset="-120"/>
              </a:rPr>
              <a:t>코드가</a:t>
            </a:r>
            <a:endParaRPr lang="en-US" sz="1240" dirty="0"/>
          </a:p>
          <a:p>
            <a:pPr marL="0" indent="0" algn="ctr">
              <a:buNone/>
            </a:pPr>
            <a:r>
              <a:rPr lang="en-US" sz="1240" b="1" dirty="0">
                <a:solidFill>
                  <a:srgbClr val="14213D"/>
                </a:solidFill>
                <a:latin typeface="Noto Sans CJK KR" pitchFamily="34" charset="0"/>
                <a:ea typeface="Noto Sans CJK KR" pitchFamily="34" charset="-122"/>
                <a:cs typeface="Noto Sans CJK KR" pitchFamily="34" charset="-120"/>
              </a:rPr>
              <a:t>원본과 재검증</a:t>
            </a:r>
            <a:endParaRPr lang="en-US" sz="1240" dirty="0"/>
          </a:p>
        </p:txBody>
      </p:sp>
      <p:sp>
        <p:nvSpPr>
          <p:cNvPr id="14" name="Text 12"/>
          <p:cNvSpPr/>
          <p:nvPr/>
        </p:nvSpPr>
        <p:spPr>
          <a:xfrm>
            <a:off x="685800" y="3337560"/>
            <a:ext cx="3017520" cy="256032"/>
          </a:xfrm>
          <a:prstGeom prst="rect">
            <a:avLst/>
          </a:prstGeom>
          <a:noFill/>
          <a:ln/>
        </p:spPr>
        <p:txBody>
          <a:bodyPr wrap="square" lIns="254" tIns="254" rIns="254" bIns="254" rtlCol="0" anchor="t">
            <a:normAutofit/>
          </a:bodyPr>
          <a:lstStyle/>
          <a:p>
            <a:pPr marL="0" indent="0" algn="l">
              <a:buNone/>
            </a:pPr>
            <a:r>
              <a:rPr lang="en-US" sz="1050" b="1" dirty="0">
                <a:solidFill>
                  <a:srgbClr val="DC2626"/>
                </a:solidFill>
                <a:latin typeface="Noto Sans CJK KR" pitchFamily="34" charset="0"/>
                <a:ea typeface="Noto Sans CJK KR" pitchFamily="34" charset="-122"/>
                <a:cs typeface="Noto Sans CJK KR" pitchFamily="34" charset="-120"/>
              </a:rPr>
              <a:t>발생 가능성이 높은 예외와 대응</a:t>
            </a:r>
            <a:endParaRPr lang="en-US" sz="1050" dirty="0"/>
          </a:p>
        </p:txBody>
      </p:sp>
      <p:sp>
        <p:nvSpPr>
          <p:cNvPr id="15" name="Text 13"/>
          <p:cNvSpPr/>
          <p:nvPr/>
        </p:nvSpPr>
        <p:spPr>
          <a:xfrm>
            <a:off x="868680" y="3803904"/>
            <a:ext cx="2423160" cy="1170432"/>
          </a:xfrm>
          <a:prstGeom prst="rect">
            <a:avLst/>
          </a:prstGeom>
          <a:solidFill>
            <a:srgbClr val="FFF1F2"/>
          </a:solidFill>
          <a:ln w="12700">
            <a:solidFill>
              <a:srgbClr val="DC2626"/>
            </a:solidFill>
          </a:ln>
        </p:spPr>
        <p:txBody>
          <a:bodyPr wrap="square" lIns="1016" tIns="1016" rIns="1016" bIns="1016" rtlCol="0" anchor="ctr">
            <a:normAutofit/>
          </a:bodyPr>
          <a:lstStyle/>
          <a:p>
            <a:pPr marL="0" indent="0" algn="ctr">
              <a:buNone/>
            </a:pPr>
            <a:r>
              <a:rPr lang="en-US" sz="1120" b="1" dirty="0">
                <a:solidFill>
                  <a:srgbClr val="14213D"/>
                </a:solidFill>
                <a:latin typeface="Noto Sans CJK KR" pitchFamily="34" charset="0"/>
                <a:ea typeface="Noto Sans CJK KR" pitchFamily="34" charset="-122"/>
                <a:cs typeface="Noto Sans CJK KR" pitchFamily="34" charset="-120"/>
              </a:rPr>
              <a:t>지시 우회 입력</a:t>
            </a:r>
            <a:endParaRPr lang="en-US" sz="1120" dirty="0"/>
          </a:p>
          <a:p>
            <a:pPr marL="0" indent="0" algn="ctr">
              <a:buNone/>
            </a:pPr>
            <a:endParaRPr lang="en-US" sz="1120" dirty="0"/>
          </a:p>
          <a:p>
            <a:pPr marL="0" indent="0" algn="ctr">
              <a:buNone/>
            </a:pPr>
            <a:r>
              <a:rPr lang="en-US" sz="1120" b="1" dirty="0">
                <a:solidFill>
                  <a:srgbClr val="14213D"/>
                </a:solidFill>
                <a:latin typeface="Noto Sans CJK KR" pitchFamily="34" charset="0"/>
                <a:ea typeface="Noto Sans CJK KR" pitchFamily="34" charset="-122"/>
                <a:cs typeface="Noto Sans CJK KR" pitchFamily="34" charset="-120"/>
              </a:rPr>
              <a:t>서류가 미완료된 사례는</a:t>
            </a:r>
            <a:endParaRPr lang="en-US" sz="1120" dirty="0"/>
          </a:p>
          <a:p>
            <a:pPr marL="0" indent="0" algn="ctr">
              <a:buNone/>
            </a:pPr>
            <a:r>
              <a:rPr lang="en-US" sz="1120" b="1" dirty="0">
                <a:solidFill>
                  <a:srgbClr val="14213D"/>
                </a:solidFill>
                <a:latin typeface="Noto Sans CJK KR" pitchFamily="34" charset="0"/>
                <a:ea typeface="Noto Sans CJK KR" pitchFamily="34" charset="-122"/>
                <a:cs typeface="Noto Sans CJK KR" pitchFamily="34" charset="-120"/>
              </a:rPr>
              <a:t>needs_input을 유지하도록 검증</a:t>
            </a:r>
            <a:endParaRPr lang="en-US" sz="1120" dirty="0"/>
          </a:p>
        </p:txBody>
      </p:sp>
      <p:sp>
        <p:nvSpPr>
          <p:cNvPr id="16" name="Text 14"/>
          <p:cNvSpPr/>
          <p:nvPr/>
        </p:nvSpPr>
        <p:spPr>
          <a:xfrm>
            <a:off x="3611880" y="3803904"/>
            <a:ext cx="2423160" cy="1170432"/>
          </a:xfrm>
          <a:prstGeom prst="rect">
            <a:avLst/>
          </a:prstGeom>
          <a:solidFill>
            <a:srgbClr val="FFFFFF"/>
          </a:solidFill>
          <a:ln w="12700">
            <a:solidFill>
              <a:srgbClr val="CBD5E1"/>
            </a:solidFill>
          </a:ln>
        </p:spPr>
        <p:txBody>
          <a:bodyPr wrap="square" lIns="1016" tIns="1016" rIns="1016" bIns="1016" rtlCol="0" anchor="ctr">
            <a:normAutofit/>
          </a:bodyPr>
          <a:lstStyle/>
          <a:p>
            <a:pPr marL="0" indent="0" algn="ctr">
              <a:buNone/>
            </a:pPr>
            <a:r>
              <a:rPr lang="en-US" sz="1120" b="1" dirty="0">
                <a:solidFill>
                  <a:srgbClr val="14213D"/>
                </a:solidFill>
                <a:latin typeface="Noto Sans CJK KR" pitchFamily="34" charset="0"/>
                <a:ea typeface="Noto Sans CJK KR" pitchFamily="34" charset="-122"/>
                <a:cs typeface="Noto Sans CJK KR" pitchFamily="34" charset="-120"/>
              </a:rPr>
              <a:t>ready 환각</a:t>
            </a:r>
            <a:endParaRPr lang="en-US" sz="1120" dirty="0"/>
          </a:p>
          <a:p>
            <a:pPr marL="0" indent="0" algn="ctr">
              <a:buNone/>
            </a:pPr>
            <a:endParaRPr lang="en-US" sz="1120" dirty="0"/>
          </a:p>
          <a:p>
            <a:pPr marL="0" indent="0" algn="ctr">
              <a:buNone/>
            </a:pPr>
            <a:r>
              <a:rPr lang="en-US" sz="1120" b="1" dirty="0">
                <a:solidFill>
                  <a:srgbClr val="14213D"/>
                </a:solidFill>
                <a:latin typeface="Noto Sans CJK KR" pitchFamily="34" charset="0"/>
                <a:ea typeface="Noto Sans CJK KR" pitchFamily="34" charset="-122"/>
                <a:cs typeface="Noto Sans CJK KR" pitchFamily="34" charset="-120"/>
              </a:rPr>
              <a:t>원본 의뢰 필드와 대조해</a:t>
            </a:r>
            <a:endParaRPr lang="en-US" sz="1120" dirty="0"/>
          </a:p>
          <a:p>
            <a:pPr marL="0" indent="0" algn="ctr">
              <a:buNone/>
            </a:pPr>
            <a:r>
              <a:rPr lang="en-US" sz="1120" b="1" dirty="0">
                <a:solidFill>
                  <a:srgbClr val="14213D"/>
                </a:solidFill>
                <a:latin typeface="Noto Sans CJK KR" pitchFamily="34" charset="0"/>
                <a:ea typeface="Noto Sans CJK KR" pitchFamily="34" charset="-122"/>
                <a:cs typeface="Noto Sans CJK KR" pitchFamily="34" charset="-120"/>
              </a:rPr>
              <a:t>준비 완료 여부를 다시 확인</a:t>
            </a:r>
            <a:endParaRPr lang="en-US" sz="1120" dirty="0"/>
          </a:p>
        </p:txBody>
      </p:sp>
      <p:sp>
        <p:nvSpPr>
          <p:cNvPr id="17" name="Text 15"/>
          <p:cNvSpPr/>
          <p:nvPr/>
        </p:nvSpPr>
        <p:spPr>
          <a:xfrm>
            <a:off x="6355080" y="3803904"/>
            <a:ext cx="2423160" cy="1170432"/>
          </a:xfrm>
          <a:prstGeom prst="rect">
            <a:avLst/>
          </a:prstGeom>
          <a:solidFill>
            <a:srgbClr val="FFF7E6"/>
          </a:solidFill>
          <a:ln w="12700">
            <a:solidFill>
              <a:srgbClr val="F59E0B"/>
            </a:solidFill>
          </a:ln>
        </p:spPr>
        <p:txBody>
          <a:bodyPr wrap="square" lIns="1016" tIns="1016" rIns="1016" bIns="1016" rtlCol="0" anchor="ctr">
            <a:normAutofit/>
          </a:bodyPr>
          <a:lstStyle/>
          <a:p>
            <a:pPr marL="0" indent="0" algn="ctr">
              <a:buNone/>
            </a:pPr>
            <a:r>
              <a:rPr lang="en-US" sz="1120" b="1" dirty="0">
                <a:solidFill>
                  <a:srgbClr val="14213D"/>
                </a:solidFill>
                <a:latin typeface="Noto Sans CJK KR" pitchFamily="34" charset="0"/>
                <a:ea typeface="Noto Sans CJK KR" pitchFamily="34" charset="-122"/>
                <a:cs typeface="Noto Sans CJK KR" pitchFamily="34" charset="-120"/>
              </a:rPr>
              <a:t>후보 밖 slot_id</a:t>
            </a:r>
            <a:endParaRPr lang="en-US" sz="1120" dirty="0"/>
          </a:p>
          <a:p>
            <a:pPr marL="0" indent="0" algn="ctr">
              <a:buNone/>
            </a:pPr>
            <a:endParaRPr lang="en-US" sz="1120" dirty="0"/>
          </a:p>
          <a:p>
            <a:pPr marL="0" indent="0" algn="ctr">
              <a:buNone/>
            </a:pPr>
            <a:r>
              <a:rPr lang="en-US" sz="1120" b="1" dirty="0">
                <a:solidFill>
                  <a:srgbClr val="14213D"/>
                </a:solidFill>
                <a:latin typeface="Noto Sans CJK KR" pitchFamily="34" charset="0"/>
                <a:ea typeface="Noto Sans CJK KR" pitchFamily="34" charset="-122"/>
                <a:cs typeface="Noto Sans CJK KR" pitchFamily="34" charset="-120"/>
              </a:rPr>
              <a:t>조회된 후보 목록에 없으면</a:t>
            </a:r>
            <a:endParaRPr lang="en-US" sz="1120" dirty="0"/>
          </a:p>
          <a:p>
            <a:pPr marL="0" indent="0" algn="ctr">
              <a:buNone/>
            </a:pPr>
            <a:r>
              <a:rPr lang="en-US" sz="1120" b="1" dirty="0">
                <a:solidFill>
                  <a:srgbClr val="14213D"/>
                </a:solidFill>
                <a:latin typeface="Noto Sans CJK KR" pitchFamily="34" charset="0"/>
                <a:ea typeface="Noto Sans CJK KR" pitchFamily="34" charset="-122"/>
                <a:cs typeface="Noto Sans CJK KR" pitchFamily="34" charset="-120"/>
              </a:rPr>
              <a:t>예약 단계에서 실패 처리</a:t>
            </a:r>
            <a:endParaRPr lang="en-US" sz="1120" dirty="0"/>
          </a:p>
        </p:txBody>
      </p:sp>
      <p:sp>
        <p:nvSpPr>
          <p:cNvPr id="18" name="Text 16"/>
          <p:cNvSpPr/>
          <p:nvPr/>
        </p:nvSpPr>
        <p:spPr>
          <a:xfrm>
            <a:off x="9098280" y="3803904"/>
            <a:ext cx="2423160" cy="1170432"/>
          </a:xfrm>
          <a:prstGeom prst="rect">
            <a:avLst/>
          </a:prstGeom>
          <a:solidFill>
            <a:srgbClr val="EAF2FF"/>
          </a:solidFill>
          <a:ln w="12700">
            <a:solidFill>
              <a:srgbClr val="2563EB"/>
            </a:solidFill>
          </a:ln>
        </p:spPr>
        <p:txBody>
          <a:bodyPr wrap="square" lIns="1016" tIns="1016" rIns="1016" bIns="1016" rtlCol="0" anchor="ctr">
            <a:normAutofit/>
          </a:bodyPr>
          <a:lstStyle/>
          <a:p>
            <a:pPr marL="0" indent="0" algn="ctr">
              <a:buNone/>
            </a:pPr>
            <a:r>
              <a:rPr lang="en-US" sz="1120" b="1" dirty="0">
                <a:solidFill>
                  <a:srgbClr val="14213D"/>
                </a:solidFill>
                <a:latin typeface="Noto Sans CJK KR" pitchFamily="34" charset="0"/>
                <a:ea typeface="Noto Sans CJK KR" pitchFamily="34" charset="-122"/>
                <a:cs typeface="Noto Sans CJK KR" pitchFamily="34" charset="-120"/>
              </a:rPr>
              <a:t>형식 오류</a:t>
            </a:r>
            <a:endParaRPr lang="en-US" sz="1120" dirty="0"/>
          </a:p>
          <a:p>
            <a:pPr marL="0" indent="0" algn="ctr">
              <a:buNone/>
            </a:pPr>
            <a:endParaRPr lang="en-US" sz="1120" dirty="0"/>
          </a:p>
          <a:p>
            <a:pPr marL="0" indent="0" algn="ctr">
              <a:buNone/>
            </a:pPr>
            <a:r>
              <a:rPr lang="en-US" sz="1120" b="1" dirty="0">
                <a:solidFill>
                  <a:srgbClr val="14213D"/>
                </a:solidFill>
                <a:latin typeface="Noto Sans CJK KR" pitchFamily="34" charset="0"/>
                <a:ea typeface="Noto Sans CJK KR" pitchFamily="34" charset="-122"/>
                <a:cs typeface="Noto Sans CJK KR" pitchFamily="34" charset="-120"/>
              </a:rPr>
              <a:t>1회 재시도 후에도 실패하면</a:t>
            </a:r>
            <a:endParaRPr lang="en-US" sz="1120" dirty="0"/>
          </a:p>
          <a:p>
            <a:pPr marL="0" indent="0" algn="ctr">
              <a:buNone/>
            </a:pPr>
            <a:r>
              <a:rPr lang="en-US" sz="1120" b="1" dirty="0">
                <a:solidFill>
                  <a:srgbClr val="14213D"/>
                </a:solidFill>
                <a:latin typeface="Noto Sans CJK KR" pitchFamily="34" charset="0"/>
                <a:ea typeface="Noto Sans CJK KR" pitchFamily="34" charset="-122"/>
                <a:cs typeface="Noto Sans CJK KR" pitchFamily="34" charset="-120"/>
              </a:rPr>
              <a:t>사용자에게 실패 상태 노출</a:t>
            </a:r>
            <a:endParaRPr lang="en-US" sz="1120" dirty="0"/>
          </a:p>
        </p:txBody>
      </p:sp>
      <p:sp>
        <p:nvSpPr>
          <p:cNvPr id="19" name="Text 17"/>
          <p:cNvSpPr/>
          <p:nvPr/>
        </p:nvSpPr>
        <p:spPr>
          <a:xfrm>
            <a:off x="914400" y="5623560"/>
            <a:ext cx="10332720" cy="347472"/>
          </a:xfrm>
          <a:prstGeom prst="rect">
            <a:avLst/>
          </a:prstGeom>
          <a:noFill/>
          <a:ln/>
        </p:spPr>
        <p:txBody>
          <a:bodyPr wrap="square" lIns="254" tIns="254" rIns="254" bIns="254" rtlCol="0" anchor="t">
            <a:normAutofit/>
          </a:bodyPr>
          <a:lstStyle/>
          <a:p>
            <a:pPr marL="0" indent="0" algn="ctr">
              <a:buNone/>
            </a:pPr>
            <a:r>
              <a:rPr lang="en-US" sz="1520" b="1" dirty="0">
                <a:solidFill>
                  <a:srgbClr val="14213D"/>
                </a:solidFill>
                <a:latin typeface="Noto Sans CJK KR" pitchFamily="34" charset="0"/>
                <a:ea typeface="Noto Sans CJK KR" pitchFamily="34" charset="-122"/>
                <a:cs typeface="Noto Sans CJK KR" pitchFamily="34" charset="-120"/>
              </a:rPr>
              <a:t>정리하면, 프롬프트는 업무 의도를 맞추기 위한 장치이고 최종 안전장치는 코드 검증입니다.</a:t>
            </a:r>
            <a:endParaRPr lang="en-US" sz="1520" dirty="0"/>
          </a:p>
        </p:txBody>
      </p:sp>
      <p:sp>
        <p:nvSpPr>
          <p:cNvPr id="20" name="Text 18"/>
          <p:cNvSpPr/>
          <p:nvPr/>
        </p:nvSpPr>
        <p:spPr>
          <a:xfrm>
            <a:off x="10561320" y="6446520"/>
            <a:ext cx="1051560" cy="164592"/>
          </a:xfrm>
          <a:prstGeom prst="rect">
            <a:avLst/>
          </a:prstGeom>
          <a:noFill/>
          <a:ln/>
        </p:spPr>
        <p:txBody>
          <a:bodyPr wrap="square" lIns="0" tIns="0" rIns="0" bIns="0" rtlCol="0" anchor="ctr"/>
          <a:lstStyle/>
          <a:p>
            <a:pPr marL="0" indent="0" algn="r">
              <a:buNone/>
            </a:pPr>
            <a:r>
              <a:rPr lang="en-US" sz="750" dirty="0">
                <a:solidFill>
                  <a:srgbClr val="64748B"/>
                </a:solidFill>
                <a:latin typeface="Noto Sans CJK KR" pitchFamily="34" charset="0"/>
                <a:ea typeface="Noto Sans CJK KR" pitchFamily="34" charset="-122"/>
                <a:cs typeface="Noto Sans CJK KR" pitchFamily="34" charset="-120"/>
              </a:rPr>
              <a:t>ExamFlow · 5/7</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4213D"/>
          </a:solidFill>
          <a:ln w="12700">
            <a:solidFill>
              <a:srgbClr val="14213D"/>
            </a:solidFill>
            <a:prstDash val="solid"/>
          </a:ln>
        </p:spPr>
      </p:sp>
      <p:sp>
        <p:nvSpPr>
          <p:cNvPr id="3" name="Shape 1"/>
          <p:cNvSpPr/>
          <p:nvPr/>
        </p:nvSpPr>
        <p:spPr>
          <a:xfrm>
            <a:off x="0" y="6729984"/>
            <a:ext cx="12191695" cy="128016"/>
          </a:xfrm>
          <a:prstGeom prst="rect">
            <a:avLst/>
          </a:prstGeom>
          <a:solidFill>
            <a:srgbClr val="14213D"/>
          </a:solidFill>
          <a:ln w="12700">
            <a:solidFill>
              <a:srgbClr val="14213D"/>
            </a:solidFill>
            <a:prstDash val="solid"/>
          </a:ln>
        </p:spPr>
      </p:sp>
      <p:sp>
        <p:nvSpPr>
          <p:cNvPr id="4" name="Text 2"/>
          <p:cNvSpPr/>
          <p:nvPr/>
        </p:nvSpPr>
        <p:spPr>
          <a:xfrm>
            <a:off x="566928" y="384048"/>
            <a:ext cx="3840480" cy="228600"/>
          </a:xfrm>
          <a:prstGeom prst="rect">
            <a:avLst/>
          </a:prstGeom>
          <a:noFill/>
          <a:ln/>
        </p:spPr>
        <p:txBody>
          <a:bodyPr wrap="square" lIns="0" tIns="0" rIns="0" bIns="0" rtlCol="0" anchor="ctr"/>
          <a:lstStyle/>
          <a:p>
            <a:pPr marL="0" indent="0">
              <a:buNone/>
            </a:pPr>
            <a:r>
              <a:rPr lang="en-US" sz="1000" b="1" dirty="0">
                <a:solidFill>
                  <a:srgbClr val="2563EB"/>
                </a:solidFill>
                <a:latin typeface="Noto Sans CJK KR" pitchFamily="34" charset="0"/>
                <a:ea typeface="Noto Sans CJK KR" pitchFamily="34" charset="-122"/>
                <a:cs typeface="Noto Sans CJK KR" pitchFamily="34" charset="-120"/>
              </a:rPr>
              <a:t>05 · Vibe Coding vs Hard Coding</a:t>
            </a:r>
            <a:endParaRPr lang="en-US" sz="1000" dirty="0"/>
          </a:p>
        </p:txBody>
      </p:sp>
      <p:sp>
        <p:nvSpPr>
          <p:cNvPr id="5" name="Text 3"/>
          <p:cNvSpPr/>
          <p:nvPr/>
        </p:nvSpPr>
        <p:spPr>
          <a:xfrm>
            <a:off x="566928" y="676656"/>
            <a:ext cx="11064240" cy="457200"/>
          </a:xfrm>
          <a:prstGeom prst="rect">
            <a:avLst/>
          </a:prstGeom>
          <a:noFill/>
          <a:ln/>
        </p:spPr>
        <p:txBody>
          <a:bodyPr wrap="square" lIns="0" tIns="0" rIns="0" bIns="0" rtlCol="0" anchor="ctr">
            <a:normAutofit/>
          </a:bodyPr>
          <a:lstStyle/>
          <a:p>
            <a:pPr marL="0" indent="0">
              <a:buNone/>
            </a:pPr>
            <a:r>
              <a:rPr lang="en-US" sz="2350" b="1" dirty="0">
                <a:solidFill>
                  <a:srgbClr val="14213D"/>
                </a:solidFill>
                <a:latin typeface="Noto Sans CJK KR" pitchFamily="34" charset="0"/>
                <a:ea typeface="Noto Sans CJK KR" pitchFamily="34" charset="-122"/>
                <a:cs typeface="Noto Sans CJK KR" pitchFamily="34" charset="-120"/>
              </a:rPr>
              <a:t>개발 방식: AI로 빠르게 만들고, 업무 제약은 코드로 잠갔습니다</a:t>
            </a:r>
            <a:endParaRPr lang="en-US" sz="2350" dirty="0"/>
          </a:p>
        </p:txBody>
      </p:sp>
      <p:sp>
        <p:nvSpPr>
          <p:cNvPr id="6" name="Text 4"/>
          <p:cNvSpPr/>
          <p:nvPr/>
        </p:nvSpPr>
        <p:spPr>
          <a:xfrm>
            <a:off x="685800" y="1417320"/>
            <a:ext cx="3474720" cy="256032"/>
          </a:xfrm>
          <a:prstGeom prst="rect">
            <a:avLst/>
          </a:prstGeom>
          <a:noFill/>
          <a:ln/>
        </p:spPr>
        <p:txBody>
          <a:bodyPr wrap="square" lIns="254" tIns="254" rIns="254" bIns="254" rtlCol="0" anchor="t">
            <a:normAutofit/>
          </a:bodyPr>
          <a:lstStyle/>
          <a:p>
            <a:pPr marL="0" indent="0" algn="l">
              <a:buNone/>
            </a:pPr>
            <a:r>
              <a:rPr lang="en-US" sz="1050" b="1" dirty="0">
                <a:solidFill>
                  <a:srgbClr val="2563EB"/>
                </a:solidFill>
                <a:latin typeface="Noto Sans CJK KR" pitchFamily="34" charset="0"/>
                <a:ea typeface="Noto Sans CJK KR" pitchFamily="34" charset="-122"/>
                <a:cs typeface="Noto Sans CJK KR" pitchFamily="34" charset="-120"/>
              </a:rPr>
              <a:t>AI 도움을 적극적으로 쓴 부분</a:t>
            </a:r>
            <a:endParaRPr lang="en-US" sz="1050" dirty="0"/>
          </a:p>
        </p:txBody>
      </p:sp>
      <p:sp>
        <p:nvSpPr>
          <p:cNvPr id="7" name="Text 5"/>
          <p:cNvSpPr/>
          <p:nvPr/>
        </p:nvSpPr>
        <p:spPr>
          <a:xfrm>
            <a:off x="6446520" y="1417320"/>
            <a:ext cx="2743200" cy="256032"/>
          </a:xfrm>
          <a:prstGeom prst="rect">
            <a:avLst/>
          </a:prstGeom>
          <a:noFill/>
          <a:ln/>
        </p:spPr>
        <p:txBody>
          <a:bodyPr wrap="square" lIns="254" tIns="254" rIns="254" bIns="254" rtlCol="0" anchor="t">
            <a:normAutofit/>
          </a:bodyPr>
          <a:lstStyle/>
          <a:p>
            <a:pPr marL="0" indent="0" algn="l">
              <a:buNone/>
            </a:pPr>
            <a:r>
              <a:rPr lang="en-US" sz="1050" b="1" dirty="0">
                <a:solidFill>
                  <a:srgbClr val="14213D"/>
                </a:solidFill>
                <a:latin typeface="Noto Sans CJK KR" pitchFamily="34" charset="0"/>
                <a:ea typeface="Noto Sans CJK KR" pitchFamily="34" charset="-122"/>
                <a:cs typeface="Noto Sans CJK KR" pitchFamily="34" charset="-120"/>
              </a:rPr>
              <a:t>직접 경계를 정한 부분</a:t>
            </a:r>
            <a:endParaRPr lang="en-US" sz="1050" dirty="0"/>
          </a:p>
        </p:txBody>
      </p:sp>
      <p:sp>
        <p:nvSpPr>
          <p:cNvPr id="8" name="Text 6"/>
          <p:cNvSpPr/>
          <p:nvPr/>
        </p:nvSpPr>
        <p:spPr>
          <a:xfrm>
            <a:off x="868680" y="1865376"/>
            <a:ext cx="4754880" cy="1325880"/>
          </a:xfrm>
          <a:prstGeom prst="rect">
            <a:avLst/>
          </a:prstGeom>
          <a:noFill/>
          <a:ln/>
        </p:spPr>
        <p:txBody>
          <a:bodyPr wrap="square" lIns="254" tIns="254" rIns="254" bIns="254" rtlCol="0" anchor="t">
            <a:normAutofit/>
          </a:bodyPr>
          <a:lstStyle/>
          <a:p>
            <a:pPr marL="0" indent="0" algn="l">
              <a:buNone/>
            </a:pPr>
            <a:r>
              <a:rPr lang="en-US" sz="1450" dirty="0">
                <a:solidFill>
                  <a:srgbClr val="334155"/>
                </a:solidFill>
                <a:latin typeface="Noto Sans CJK KR" pitchFamily="34" charset="0"/>
                <a:ea typeface="Noto Sans CJK KR" pitchFamily="34" charset="-122"/>
                <a:cs typeface="Noto Sans CJK KR" pitchFamily="34" charset="-120"/>
              </a:rPr>
              <a:t>• API와 UI 초안 작성</a:t>
            </a:r>
            <a:endParaRPr lang="en-US" sz="1450" dirty="0"/>
          </a:p>
          <a:p>
            <a:pPr marL="0" indent="0" algn="l">
              <a:buNone/>
            </a:pPr>
            <a:r>
              <a:rPr lang="en-US" sz="1450" dirty="0">
                <a:solidFill>
                  <a:srgbClr val="334155"/>
                </a:solidFill>
                <a:latin typeface="Noto Sans CJK KR" pitchFamily="34" charset="0"/>
                <a:ea typeface="Noto Sans CJK KR" pitchFamily="34" charset="-122"/>
                <a:cs typeface="Noto Sans CJK KR" pitchFamily="34" charset="-120"/>
              </a:rPr>
              <a:t>• A2A·MCP SDK 사용법 확인</a:t>
            </a:r>
            <a:endParaRPr lang="en-US" sz="1450" dirty="0"/>
          </a:p>
          <a:p>
            <a:pPr marL="0" indent="0" algn="l">
              <a:buNone/>
            </a:pPr>
            <a:r>
              <a:rPr lang="en-US" sz="1450" dirty="0">
                <a:solidFill>
                  <a:srgbClr val="334155"/>
                </a:solidFill>
                <a:latin typeface="Noto Sans CJK KR" pitchFamily="34" charset="0"/>
                <a:ea typeface="Noto Sans CJK KR" pitchFamily="34" charset="-122"/>
                <a:cs typeface="Noto Sans CJK KR" pitchFamily="34" charset="-120"/>
              </a:rPr>
              <a:t>• 테스트 케이스 후보 정리</a:t>
            </a:r>
            <a:endParaRPr lang="en-US" sz="1450" dirty="0"/>
          </a:p>
          <a:p>
            <a:pPr marL="0" indent="0" algn="l">
              <a:buNone/>
            </a:pPr>
            <a:r>
              <a:rPr lang="en-US" sz="1450" dirty="0">
                <a:solidFill>
                  <a:srgbClr val="334155"/>
                </a:solidFill>
                <a:latin typeface="Noto Sans CJK KR" pitchFamily="34" charset="0"/>
                <a:ea typeface="Noto Sans CJK KR" pitchFamily="34" charset="-122"/>
                <a:cs typeface="Noto Sans CJK KR" pitchFamily="34" charset="-120"/>
              </a:rPr>
              <a:t>• README와 검증 기록 초안화</a:t>
            </a:r>
            <a:endParaRPr lang="en-US" sz="1450" dirty="0"/>
          </a:p>
        </p:txBody>
      </p:sp>
      <p:sp>
        <p:nvSpPr>
          <p:cNvPr id="9" name="Text 7"/>
          <p:cNvSpPr/>
          <p:nvPr/>
        </p:nvSpPr>
        <p:spPr>
          <a:xfrm>
            <a:off x="6583680" y="1865376"/>
            <a:ext cx="4754880" cy="1325880"/>
          </a:xfrm>
          <a:prstGeom prst="rect">
            <a:avLst/>
          </a:prstGeom>
          <a:noFill/>
          <a:ln/>
        </p:spPr>
        <p:txBody>
          <a:bodyPr wrap="square" lIns="254" tIns="254" rIns="254" bIns="254" rtlCol="0" anchor="t">
            <a:normAutofit/>
          </a:bodyPr>
          <a:lstStyle/>
          <a:p>
            <a:pPr marL="0" indent="0" algn="l">
              <a:buNone/>
            </a:pPr>
            <a:r>
              <a:rPr lang="en-US" sz="1450" dirty="0">
                <a:solidFill>
                  <a:srgbClr val="334155"/>
                </a:solidFill>
                <a:latin typeface="Noto Sans CJK KR" pitchFamily="34" charset="0"/>
                <a:ea typeface="Noto Sans CJK KR" pitchFamily="34" charset="-122"/>
                <a:cs typeface="Noto Sans CJK KR" pitchFamily="34" charset="-120"/>
              </a:rPr>
              <a:t>• 준비 완료 전 일정 조정 차단</a:t>
            </a:r>
            <a:endParaRPr lang="en-US" sz="1450" dirty="0"/>
          </a:p>
          <a:p>
            <a:pPr marL="0" indent="0" algn="l">
              <a:buNone/>
            </a:pPr>
            <a:r>
              <a:rPr lang="en-US" sz="1450" dirty="0">
                <a:solidFill>
                  <a:srgbClr val="334155"/>
                </a:solidFill>
                <a:latin typeface="Noto Sans CJK KR" pitchFamily="34" charset="0"/>
                <a:ea typeface="Noto Sans CJK KR" pitchFamily="34" charset="-122"/>
                <a:cs typeface="Noto Sans CJK KR" pitchFamily="34" charset="-120"/>
              </a:rPr>
              <a:t>• 세션 소유권과 승인 상태 확인</a:t>
            </a:r>
            <a:endParaRPr lang="en-US" sz="1450" dirty="0"/>
          </a:p>
          <a:p>
            <a:pPr marL="0" indent="0" algn="l">
              <a:buNone/>
            </a:pPr>
            <a:r>
              <a:rPr lang="en-US" sz="1450" dirty="0">
                <a:solidFill>
                  <a:srgbClr val="334155"/>
                </a:solidFill>
                <a:latin typeface="Noto Sans CJK KR" pitchFamily="34" charset="0"/>
                <a:ea typeface="Noto Sans CJK KR" pitchFamily="34" charset="-122"/>
                <a:cs typeface="Noto Sans CJK KR" pitchFamily="34" charset="-120"/>
              </a:rPr>
              <a:t>• slot_id 후보 목록 대조</a:t>
            </a:r>
            <a:endParaRPr lang="en-US" sz="1450" dirty="0"/>
          </a:p>
          <a:p>
            <a:pPr marL="0" indent="0" algn="l">
              <a:buNone/>
            </a:pPr>
            <a:r>
              <a:rPr lang="en-US" sz="1450" dirty="0">
                <a:solidFill>
                  <a:srgbClr val="334155"/>
                </a:solidFill>
                <a:latin typeface="Noto Sans CJK KR" pitchFamily="34" charset="0"/>
                <a:ea typeface="Noto Sans CJK KR" pitchFamily="34" charset="-122"/>
                <a:cs typeface="Noto Sans CJK KR" pitchFamily="34" charset="-120"/>
              </a:rPr>
              <a:t>• DB 유일성 제약과 충돌 처리</a:t>
            </a:r>
            <a:endParaRPr lang="en-US" sz="1450" dirty="0"/>
          </a:p>
        </p:txBody>
      </p:sp>
      <p:sp>
        <p:nvSpPr>
          <p:cNvPr id="10" name="Shape 8"/>
          <p:cNvSpPr/>
          <p:nvPr/>
        </p:nvSpPr>
        <p:spPr>
          <a:xfrm>
            <a:off x="5989320" y="1618488"/>
            <a:ext cx="0" cy="1792224"/>
          </a:xfrm>
          <a:prstGeom prst="line">
            <a:avLst/>
          </a:prstGeom>
          <a:noFill/>
          <a:ln w="13970">
            <a:solidFill>
              <a:srgbClr val="CBD5E1"/>
            </a:solidFill>
            <a:prstDash val="solid"/>
          </a:ln>
        </p:spPr>
      </p:sp>
      <p:sp>
        <p:nvSpPr>
          <p:cNvPr id="11" name="Text 9"/>
          <p:cNvSpPr/>
          <p:nvPr/>
        </p:nvSpPr>
        <p:spPr>
          <a:xfrm>
            <a:off x="1664208" y="3675888"/>
            <a:ext cx="8869680" cy="768096"/>
          </a:xfrm>
          <a:prstGeom prst="rect">
            <a:avLst/>
          </a:prstGeom>
          <a:solidFill>
            <a:srgbClr val="FFFFFF"/>
          </a:solidFill>
          <a:ln w="12700">
            <a:solidFill>
              <a:srgbClr val="14213D"/>
            </a:solidFill>
          </a:ln>
        </p:spPr>
        <p:txBody>
          <a:bodyPr wrap="square" lIns="1016" tIns="1016" rIns="1016" bIns="1016" rtlCol="0" anchor="ctr">
            <a:normAutofit/>
          </a:bodyPr>
          <a:lstStyle/>
          <a:p>
            <a:pPr marL="0" indent="0" algn="ctr">
              <a:buNone/>
            </a:pPr>
            <a:r>
              <a:rPr lang="en-US" sz="1430" b="1" dirty="0">
                <a:solidFill>
                  <a:srgbClr val="14213D"/>
                </a:solidFill>
                <a:latin typeface="Noto Sans CJK KR" pitchFamily="34" charset="0"/>
                <a:ea typeface="Noto Sans CJK KR" pitchFamily="34" charset="-122"/>
                <a:cs typeface="Noto Sans CJK KR" pitchFamily="34" charset="-120"/>
              </a:rPr>
              <a:t>기준은 단순했습니다.</a:t>
            </a:r>
            <a:endParaRPr lang="en-US" sz="1430" dirty="0"/>
          </a:p>
          <a:p>
            <a:pPr marL="0" indent="0" algn="ctr">
              <a:buNone/>
            </a:pPr>
            <a:r>
              <a:rPr lang="en-US" sz="1430" b="1" dirty="0">
                <a:solidFill>
                  <a:srgbClr val="14213D"/>
                </a:solidFill>
                <a:latin typeface="Noto Sans CJK KR" pitchFamily="34" charset="0"/>
                <a:ea typeface="Noto Sans CJK KR" pitchFamily="34" charset="-122"/>
                <a:cs typeface="Noto Sans CJK KR" pitchFamily="34" charset="-120"/>
              </a:rPr>
              <a:t>빠르게 반복해도 되는 영역은 AI를 활용하고, 기록을 바꾸는 영역은 결정론적 코드로 고정했습니다.</a:t>
            </a:r>
            <a:endParaRPr lang="en-US" sz="1430" dirty="0"/>
          </a:p>
        </p:txBody>
      </p:sp>
      <p:sp>
        <p:nvSpPr>
          <p:cNvPr id="12" name="Text 10"/>
          <p:cNvSpPr/>
          <p:nvPr/>
        </p:nvSpPr>
        <p:spPr>
          <a:xfrm>
            <a:off x="685800" y="5001768"/>
            <a:ext cx="1417320" cy="256032"/>
          </a:xfrm>
          <a:prstGeom prst="rect">
            <a:avLst/>
          </a:prstGeom>
          <a:noFill/>
          <a:ln/>
        </p:spPr>
        <p:txBody>
          <a:bodyPr wrap="square" lIns="254" tIns="254" rIns="254" bIns="254" rtlCol="0" anchor="t">
            <a:normAutofit/>
          </a:bodyPr>
          <a:lstStyle/>
          <a:p>
            <a:pPr marL="0" indent="0" algn="l">
              <a:buNone/>
            </a:pPr>
            <a:r>
              <a:rPr lang="en-US" sz="1050" b="1" dirty="0">
                <a:solidFill>
                  <a:srgbClr val="14B8A6"/>
                </a:solidFill>
                <a:latin typeface="Noto Sans CJK KR" pitchFamily="34" charset="0"/>
                <a:ea typeface="Noto Sans CJK KR" pitchFamily="34" charset="-122"/>
                <a:cs typeface="Noto Sans CJK KR" pitchFamily="34" charset="-120"/>
              </a:rPr>
              <a:t>검증한 축</a:t>
            </a:r>
            <a:endParaRPr lang="en-US" sz="1050" dirty="0"/>
          </a:p>
        </p:txBody>
      </p:sp>
      <p:sp>
        <p:nvSpPr>
          <p:cNvPr id="13" name="Text 11"/>
          <p:cNvSpPr/>
          <p:nvPr/>
        </p:nvSpPr>
        <p:spPr>
          <a:xfrm>
            <a:off x="1828800" y="5358384"/>
            <a:ext cx="2331720" cy="603504"/>
          </a:xfrm>
          <a:prstGeom prst="rect">
            <a:avLst/>
          </a:prstGeom>
          <a:solidFill>
            <a:srgbClr val="E9FBF7"/>
          </a:solidFill>
          <a:ln w="12700">
            <a:solidFill>
              <a:srgbClr val="14B8A6"/>
            </a:solidFill>
          </a:ln>
        </p:spPr>
        <p:txBody>
          <a:bodyPr wrap="square" lIns="1016" tIns="1016" rIns="1016" bIns="1016" rtlCol="0" anchor="ctr">
            <a:normAutofit/>
          </a:bodyPr>
          <a:lstStyle/>
          <a:p>
            <a:pPr marL="0" indent="0" algn="ctr">
              <a:buNone/>
            </a:pPr>
            <a:r>
              <a:rPr lang="en-US" sz="1120" b="1" dirty="0">
                <a:solidFill>
                  <a:srgbClr val="14213D"/>
                </a:solidFill>
                <a:latin typeface="Noto Sans CJK KR" pitchFamily="34" charset="0"/>
                <a:ea typeface="Noto Sans CJK KR" pitchFamily="34" charset="-122"/>
                <a:cs typeface="Noto Sans CJK KR" pitchFamily="34" charset="-120"/>
              </a:rPr>
              <a:t>자동 테스트</a:t>
            </a:r>
            <a:endParaRPr lang="en-US" sz="1120" dirty="0"/>
          </a:p>
          <a:p>
            <a:pPr marL="0" indent="0" algn="ctr">
              <a:buNone/>
            </a:pPr>
            <a:r>
              <a:rPr lang="en-US" sz="1120" b="1" dirty="0">
                <a:solidFill>
                  <a:srgbClr val="14213D"/>
                </a:solidFill>
                <a:latin typeface="Noto Sans CJK KR" pitchFamily="34" charset="0"/>
                <a:ea typeface="Noto Sans CJK KR" pitchFamily="34" charset="-122"/>
                <a:cs typeface="Noto Sans CJK KR" pitchFamily="34" charset="-120"/>
              </a:rPr>
              <a:t>A2A HTTP + MCP stdio</a:t>
            </a:r>
            <a:endParaRPr lang="en-US" sz="1120" dirty="0"/>
          </a:p>
        </p:txBody>
      </p:sp>
      <p:sp>
        <p:nvSpPr>
          <p:cNvPr id="14" name="Text 12"/>
          <p:cNvSpPr/>
          <p:nvPr/>
        </p:nvSpPr>
        <p:spPr>
          <a:xfrm>
            <a:off x="4800600" y="5358384"/>
            <a:ext cx="2514600" cy="603504"/>
          </a:xfrm>
          <a:prstGeom prst="rect">
            <a:avLst/>
          </a:prstGeom>
          <a:solidFill>
            <a:srgbClr val="EAF2FF"/>
          </a:solidFill>
          <a:ln w="12700">
            <a:solidFill>
              <a:srgbClr val="2563EB"/>
            </a:solidFill>
          </a:ln>
        </p:spPr>
        <p:txBody>
          <a:bodyPr wrap="square" lIns="1016" tIns="1016" rIns="1016" bIns="1016" rtlCol="0" anchor="ctr">
            <a:normAutofit/>
          </a:bodyPr>
          <a:lstStyle/>
          <a:p>
            <a:pPr marL="0" indent="0" algn="ctr">
              <a:buNone/>
            </a:pPr>
            <a:r>
              <a:rPr lang="en-US" sz="1120" b="1" dirty="0">
                <a:solidFill>
                  <a:srgbClr val="14213D"/>
                </a:solidFill>
                <a:latin typeface="Noto Sans CJK KR" pitchFamily="34" charset="0"/>
                <a:ea typeface="Noto Sans CJK KR" pitchFamily="34" charset="-122"/>
                <a:cs typeface="Noto Sans CJK KR" pitchFamily="34" charset="-120"/>
              </a:rPr>
              <a:t>실제 Gemini</a:t>
            </a:r>
            <a:endParaRPr lang="en-US" sz="1120" dirty="0"/>
          </a:p>
          <a:p>
            <a:pPr marL="0" indent="0" algn="ctr">
              <a:buNone/>
            </a:pPr>
            <a:r>
              <a:rPr lang="en-US" sz="1120" b="1" dirty="0">
                <a:solidFill>
                  <a:srgbClr val="14213D"/>
                </a:solidFill>
                <a:latin typeface="Noto Sans CJK KR" pitchFamily="34" charset="0"/>
                <a:ea typeface="Noto Sans CJK KR" pitchFamily="34" charset="-122"/>
                <a:cs typeface="Noto Sans CJK KR" pitchFamily="34" charset="-120"/>
              </a:rPr>
              <a:t>정상·누락·후보 없음·우회</a:t>
            </a:r>
            <a:endParaRPr lang="en-US" sz="1120" dirty="0"/>
          </a:p>
        </p:txBody>
      </p:sp>
      <p:sp>
        <p:nvSpPr>
          <p:cNvPr id="15" name="Text 13"/>
          <p:cNvSpPr/>
          <p:nvPr/>
        </p:nvSpPr>
        <p:spPr>
          <a:xfrm>
            <a:off x="7955280" y="5358384"/>
            <a:ext cx="2606040" cy="603504"/>
          </a:xfrm>
          <a:prstGeom prst="rect">
            <a:avLst/>
          </a:prstGeom>
          <a:solidFill>
            <a:srgbClr val="FFF7E6"/>
          </a:solidFill>
          <a:ln w="12700">
            <a:solidFill>
              <a:srgbClr val="F59E0B"/>
            </a:solidFill>
          </a:ln>
        </p:spPr>
        <p:txBody>
          <a:bodyPr wrap="square" lIns="1016" tIns="1016" rIns="1016" bIns="1016" rtlCol="0" anchor="ctr">
            <a:normAutofit/>
          </a:bodyPr>
          <a:lstStyle/>
          <a:p>
            <a:pPr marL="0" indent="0" algn="ctr">
              <a:buNone/>
            </a:pPr>
            <a:r>
              <a:rPr lang="en-US" sz="1120" b="1" dirty="0">
                <a:solidFill>
                  <a:srgbClr val="14213D"/>
                </a:solidFill>
                <a:latin typeface="Noto Sans CJK KR" pitchFamily="34" charset="0"/>
                <a:ea typeface="Noto Sans CJK KR" pitchFamily="34" charset="-122"/>
                <a:cs typeface="Noto Sans CJK KR" pitchFamily="34" charset="-120"/>
              </a:rPr>
              <a:t>공개 Cloud Run</a:t>
            </a:r>
            <a:endParaRPr lang="en-US" sz="1120" dirty="0"/>
          </a:p>
          <a:p>
            <a:pPr marL="0" indent="0" algn="ctr">
              <a:buNone/>
            </a:pPr>
            <a:r>
              <a:rPr lang="en-US" sz="1120" b="1" dirty="0">
                <a:solidFill>
                  <a:srgbClr val="14213D"/>
                </a:solidFill>
                <a:latin typeface="Noto Sans CJK KR" pitchFamily="34" charset="0"/>
                <a:ea typeface="Noto Sans CJK KR" pitchFamily="34" charset="-122"/>
                <a:cs typeface="Noto Sans CJK KR" pitchFamily="34" charset="-120"/>
              </a:rPr>
              <a:t>모델 호출부터 승인까지</a:t>
            </a:r>
            <a:endParaRPr lang="en-US" sz="1120" dirty="0"/>
          </a:p>
        </p:txBody>
      </p:sp>
      <p:sp>
        <p:nvSpPr>
          <p:cNvPr id="16" name="Text 14"/>
          <p:cNvSpPr/>
          <p:nvPr/>
        </p:nvSpPr>
        <p:spPr>
          <a:xfrm>
            <a:off x="10561320" y="6446520"/>
            <a:ext cx="1051560" cy="164592"/>
          </a:xfrm>
          <a:prstGeom prst="rect">
            <a:avLst/>
          </a:prstGeom>
          <a:noFill/>
          <a:ln/>
        </p:spPr>
        <p:txBody>
          <a:bodyPr wrap="square" lIns="0" tIns="0" rIns="0" bIns="0" rtlCol="0" anchor="ctr"/>
          <a:lstStyle/>
          <a:p>
            <a:pPr marL="0" indent="0" algn="r">
              <a:buNone/>
            </a:pPr>
            <a:r>
              <a:rPr lang="en-US" sz="750" dirty="0">
                <a:solidFill>
                  <a:srgbClr val="64748B"/>
                </a:solidFill>
                <a:latin typeface="Noto Sans CJK KR" pitchFamily="34" charset="0"/>
                <a:ea typeface="Noto Sans CJK KR" pitchFamily="34" charset="-122"/>
                <a:cs typeface="Noto Sans CJK KR" pitchFamily="34" charset="-120"/>
              </a:rPr>
              <a:t>ExamFlow · 6/7</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14213D"/>
          </a:solidFill>
          <a:ln w="12700">
            <a:solidFill>
              <a:srgbClr val="14213D"/>
            </a:solidFill>
            <a:prstDash val="solid"/>
          </a:ln>
        </p:spPr>
      </p:sp>
      <p:sp>
        <p:nvSpPr>
          <p:cNvPr id="3" name="Shape 1"/>
          <p:cNvSpPr/>
          <p:nvPr/>
        </p:nvSpPr>
        <p:spPr>
          <a:xfrm>
            <a:off x="0" y="6729984"/>
            <a:ext cx="12191695" cy="128016"/>
          </a:xfrm>
          <a:prstGeom prst="rect">
            <a:avLst/>
          </a:prstGeom>
          <a:solidFill>
            <a:srgbClr val="14213D"/>
          </a:solidFill>
          <a:ln w="12700">
            <a:solidFill>
              <a:srgbClr val="14213D"/>
            </a:solidFill>
            <a:prstDash val="solid"/>
          </a:ln>
        </p:spPr>
      </p:sp>
      <p:sp>
        <p:nvSpPr>
          <p:cNvPr id="4" name="Text 2"/>
          <p:cNvSpPr/>
          <p:nvPr/>
        </p:nvSpPr>
        <p:spPr>
          <a:xfrm>
            <a:off x="566928" y="384048"/>
            <a:ext cx="3840480" cy="228600"/>
          </a:xfrm>
          <a:prstGeom prst="rect">
            <a:avLst/>
          </a:prstGeom>
          <a:noFill/>
          <a:ln/>
        </p:spPr>
        <p:txBody>
          <a:bodyPr wrap="square" lIns="0" tIns="0" rIns="0" bIns="0" rtlCol="0" anchor="ctr"/>
          <a:lstStyle/>
          <a:p>
            <a:pPr marL="0" indent="0">
              <a:buNone/>
            </a:pPr>
            <a:r>
              <a:rPr lang="en-US" sz="1000" b="1" dirty="0">
                <a:solidFill>
                  <a:srgbClr val="2563EB"/>
                </a:solidFill>
                <a:latin typeface="Noto Sans CJK KR" pitchFamily="34" charset="0"/>
                <a:ea typeface="Noto Sans CJK KR" pitchFamily="34" charset="-122"/>
                <a:cs typeface="Noto Sans CJK KR" pitchFamily="34" charset="-120"/>
              </a:rPr>
              <a:t>06 · Limits / Next Steps</a:t>
            </a:r>
            <a:endParaRPr lang="en-US" sz="1000" dirty="0"/>
          </a:p>
        </p:txBody>
      </p:sp>
      <p:sp>
        <p:nvSpPr>
          <p:cNvPr id="5" name="Text 3"/>
          <p:cNvSpPr/>
          <p:nvPr/>
        </p:nvSpPr>
        <p:spPr>
          <a:xfrm>
            <a:off x="566928" y="676656"/>
            <a:ext cx="11064240" cy="457200"/>
          </a:xfrm>
          <a:prstGeom prst="rect">
            <a:avLst/>
          </a:prstGeom>
          <a:noFill/>
          <a:ln/>
        </p:spPr>
        <p:txBody>
          <a:bodyPr wrap="square" lIns="0" tIns="0" rIns="0" bIns="0" rtlCol="0" anchor="ctr">
            <a:normAutofit/>
          </a:bodyPr>
          <a:lstStyle/>
          <a:p>
            <a:pPr marL="0" indent="0">
              <a:buNone/>
            </a:pPr>
            <a:r>
              <a:rPr lang="en-US" sz="2350" b="1" dirty="0">
                <a:solidFill>
                  <a:srgbClr val="14213D"/>
                </a:solidFill>
                <a:latin typeface="Noto Sans CJK KR" pitchFamily="34" charset="0"/>
                <a:ea typeface="Noto Sans CJK KR" pitchFamily="34" charset="-122"/>
                <a:cs typeface="Noto Sans CJK KR" pitchFamily="34" charset="-120"/>
              </a:rPr>
              <a:t>한계와 다음 단계: 데모와 운영 시스템은 분리해서 봤습니다</a:t>
            </a:r>
            <a:endParaRPr lang="en-US" sz="2350" dirty="0"/>
          </a:p>
        </p:txBody>
      </p:sp>
      <p:sp>
        <p:nvSpPr>
          <p:cNvPr id="6" name="Text 4"/>
          <p:cNvSpPr/>
          <p:nvPr/>
        </p:nvSpPr>
        <p:spPr>
          <a:xfrm>
            <a:off x="685800" y="1417320"/>
            <a:ext cx="2743200" cy="256032"/>
          </a:xfrm>
          <a:prstGeom prst="rect">
            <a:avLst/>
          </a:prstGeom>
          <a:noFill/>
          <a:ln/>
        </p:spPr>
        <p:txBody>
          <a:bodyPr wrap="square" lIns="254" tIns="254" rIns="254" bIns="254" rtlCol="0" anchor="t">
            <a:normAutofit/>
          </a:bodyPr>
          <a:lstStyle/>
          <a:p>
            <a:pPr marL="0" indent="0" algn="l">
              <a:buNone/>
            </a:pPr>
            <a:r>
              <a:rPr lang="en-US" sz="1050" b="1" dirty="0">
                <a:solidFill>
                  <a:srgbClr val="16A34A"/>
                </a:solidFill>
                <a:latin typeface="Noto Sans CJK KR" pitchFamily="34" charset="0"/>
                <a:ea typeface="Noto Sans CJK KR" pitchFamily="34" charset="-122"/>
                <a:cs typeface="Noto Sans CJK KR" pitchFamily="34" charset="-120"/>
              </a:rPr>
              <a:t>이번 과제에서 확인한 것</a:t>
            </a:r>
            <a:endParaRPr lang="en-US" sz="1050" dirty="0"/>
          </a:p>
        </p:txBody>
      </p:sp>
      <p:sp>
        <p:nvSpPr>
          <p:cNvPr id="7" name="Text 5"/>
          <p:cNvSpPr/>
          <p:nvPr/>
        </p:nvSpPr>
        <p:spPr>
          <a:xfrm>
            <a:off x="868680" y="1847088"/>
            <a:ext cx="4736592" cy="1389888"/>
          </a:xfrm>
          <a:prstGeom prst="rect">
            <a:avLst/>
          </a:prstGeom>
          <a:noFill/>
          <a:ln/>
        </p:spPr>
        <p:txBody>
          <a:bodyPr wrap="square" lIns="254" tIns="254" rIns="254" bIns="254" rtlCol="0" anchor="t">
            <a:normAutofit/>
          </a:bodyPr>
          <a:lstStyle/>
          <a:p>
            <a:pPr marL="0" indent="0" algn="l">
              <a:buNone/>
            </a:pPr>
            <a:r>
              <a:rPr lang="en-US" sz="1420" dirty="0">
                <a:solidFill>
                  <a:srgbClr val="334155"/>
                </a:solidFill>
                <a:latin typeface="Noto Sans CJK KR" pitchFamily="34" charset="0"/>
                <a:ea typeface="Noto Sans CJK KR" pitchFamily="34" charset="-122"/>
                <a:cs typeface="Noto Sans CJK KR" pitchFamily="34" charset="-120"/>
              </a:rPr>
              <a:t>• 준비 확인 → 일정 조정 → 담당자 승인 → 기록 흐름</a:t>
            </a:r>
            <a:endParaRPr lang="en-US" sz="1420" dirty="0"/>
          </a:p>
          <a:p>
            <a:pPr marL="0" indent="0" algn="l">
              <a:buNone/>
            </a:pPr>
            <a:r>
              <a:rPr lang="en-US" sz="1420" dirty="0">
                <a:solidFill>
                  <a:srgbClr val="334155"/>
                </a:solidFill>
                <a:latin typeface="Noto Sans CJK KR" pitchFamily="34" charset="0"/>
                <a:ea typeface="Noto Sans CJK KR" pitchFamily="34" charset="-122"/>
                <a:cs typeface="Noto Sans CJK KR" pitchFamily="34" charset="-120"/>
              </a:rPr>
              <a:t>• A2A HTTP와 MCP stdio 호출 근거</a:t>
            </a:r>
            <a:endParaRPr lang="en-US" sz="1420" dirty="0"/>
          </a:p>
          <a:p>
            <a:pPr marL="0" indent="0" algn="l">
              <a:buNone/>
            </a:pPr>
            <a:r>
              <a:rPr lang="en-US" sz="1420" dirty="0">
                <a:solidFill>
                  <a:srgbClr val="334155"/>
                </a:solidFill>
                <a:latin typeface="Noto Sans CJK KR" pitchFamily="34" charset="0"/>
                <a:ea typeface="Noto Sans CJK KR" pitchFamily="34" charset="-122"/>
                <a:cs typeface="Noto Sans CJK KR" pitchFamily="34" charset="-120"/>
              </a:rPr>
              <a:t>• 실제 Gemini와 공개 Cloud Run 동작</a:t>
            </a:r>
            <a:endParaRPr lang="en-US" sz="1420" dirty="0"/>
          </a:p>
          <a:p>
            <a:pPr marL="0" indent="0" algn="l">
              <a:buNone/>
            </a:pPr>
            <a:r>
              <a:rPr lang="en-US" sz="1420" dirty="0">
                <a:solidFill>
                  <a:srgbClr val="334155"/>
                </a:solidFill>
                <a:latin typeface="Noto Sans CJK KR" pitchFamily="34" charset="0"/>
                <a:ea typeface="Noto Sans CJK KR" pitchFamily="34" charset="-122"/>
                <a:cs typeface="Noto Sans CJK KR" pitchFamily="34" charset="-120"/>
              </a:rPr>
              <a:t>• 중복 승인·충돌·응답 유실 복구 검증</a:t>
            </a:r>
            <a:endParaRPr lang="en-US" sz="1420" dirty="0"/>
          </a:p>
        </p:txBody>
      </p:sp>
      <p:sp>
        <p:nvSpPr>
          <p:cNvPr id="8" name="Text 6"/>
          <p:cNvSpPr/>
          <p:nvPr/>
        </p:nvSpPr>
        <p:spPr>
          <a:xfrm>
            <a:off x="6400800" y="1417320"/>
            <a:ext cx="2011680" cy="256032"/>
          </a:xfrm>
          <a:prstGeom prst="rect">
            <a:avLst/>
          </a:prstGeom>
          <a:noFill/>
          <a:ln/>
        </p:spPr>
        <p:txBody>
          <a:bodyPr wrap="square" lIns="254" tIns="254" rIns="254" bIns="254" rtlCol="0" anchor="t">
            <a:normAutofit/>
          </a:bodyPr>
          <a:lstStyle/>
          <a:p>
            <a:pPr marL="0" indent="0" algn="l">
              <a:buNone/>
            </a:pPr>
            <a:r>
              <a:rPr lang="en-US" sz="1050" b="1" dirty="0">
                <a:solidFill>
                  <a:srgbClr val="DC2626"/>
                </a:solidFill>
                <a:latin typeface="Noto Sans CJK KR" pitchFamily="34" charset="0"/>
                <a:ea typeface="Noto Sans CJK KR" pitchFamily="34" charset="-122"/>
                <a:cs typeface="Noto Sans CJK KR" pitchFamily="34" charset="-120"/>
              </a:rPr>
              <a:t>남아 있는 한계</a:t>
            </a:r>
            <a:endParaRPr lang="en-US" sz="1050" dirty="0"/>
          </a:p>
        </p:txBody>
      </p:sp>
      <p:sp>
        <p:nvSpPr>
          <p:cNvPr id="9" name="Text 7"/>
          <p:cNvSpPr/>
          <p:nvPr/>
        </p:nvSpPr>
        <p:spPr>
          <a:xfrm>
            <a:off x="6537960" y="1847088"/>
            <a:ext cx="4572000" cy="1389888"/>
          </a:xfrm>
          <a:prstGeom prst="rect">
            <a:avLst/>
          </a:prstGeom>
          <a:noFill/>
          <a:ln/>
        </p:spPr>
        <p:txBody>
          <a:bodyPr wrap="square" lIns="254" tIns="254" rIns="254" bIns="254" rtlCol="0" anchor="t">
            <a:normAutofit/>
          </a:bodyPr>
          <a:lstStyle/>
          <a:p>
            <a:pPr marL="0" indent="0" algn="l">
              <a:buNone/>
            </a:pPr>
            <a:r>
              <a:rPr lang="en-US" sz="1420" dirty="0">
                <a:solidFill>
                  <a:srgbClr val="334155"/>
                </a:solidFill>
                <a:latin typeface="Noto Sans CJK KR" pitchFamily="34" charset="0"/>
                <a:ea typeface="Noto Sans CJK KR" pitchFamily="34" charset="-122"/>
                <a:cs typeface="Noto Sans CJK KR" pitchFamily="34" charset="-120"/>
              </a:rPr>
              <a:t>• 메모리와 로컬 SQLite 기반</a:t>
            </a:r>
            <a:endParaRPr lang="en-US" sz="1420" dirty="0"/>
          </a:p>
          <a:p>
            <a:pPr marL="0" indent="0" algn="l">
              <a:buNone/>
            </a:pPr>
            <a:r>
              <a:rPr lang="en-US" sz="1420" dirty="0">
                <a:solidFill>
                  <a:srgbClr val="334155"/>
                </a:solidFill>
                <a:latin typeface="Noto Sans CJK KR" pitchFamily="34" charset="0"/>
                <a:ea typeface="Noto Sans CJK KR" pitchFamily="34" charset="-122"/>
                <a:cs typeface="Noto Sans CJK KR" pitchFamily="34" charset="-120"/>
              </a:rPr>
              <a:t>• 재시작 뒤 데이터 보존 미보장</a:t>
            </a:r>
            <a:endParaRPr lang="en-US" sz="1420" dirty="0"/>
          </a:p>
          <a:p>
            <a:pPr marL="0" indent="0" algn="l">
              <a:buNone/>
            </a:pPr>
            <a:r>
              <a:rPr lang="en-US" sz="1420" dirty="0">
                <a:solidFill>
                  <a:srgbClr val="334155"/>
                </a:solidFill>
                <a:latin typeface="Noto Sans CJK KR" pitchFamily="34" charset="0"/>
                <a:ea typeface="Noto Sans CJK KR" pitchFamily="34" charset="-122"/>
                <a:cs typeface="Noto Sans CJK KR" pitchFamily="34" charset="-120"/>
              </a:rPr>
              <a:t>• 실제 병원 규칙·권한·감사 미구현</a:t>
            </a:r>
            <a:endParaRPr lang="en-US" sz="1420" dirty="0"/>
          </a:p>
          <a:p>
            <a:pPr marL="0" indent="0" algn="l">
              <a:buNone/>
            </a:pPr>
            <a:r>
              <a:rPr lang="en-US" sz="1420" dirty="0">
                <a:solidFill>
                  <a:srgbClr val="334155"/>
                </a:solidFill>
                <a:latin typeface="Noto Sans CJK KR" pitchFamily="34" charset="0"/>
                <a:ea typeface="Noto Sans CJK KR" pitchFamily="34" charset="-122"/>
                <a:cs typeface="Noto Sans CJK KR" pitchFamily="34" charset="-120"/>
              </a:rPr>
              <a:t>• 다중 인스턴스·장시간 부하 미검증</a:t>
            </a:r>
            <a:endParaRPr lang="en-US" sz="1420" dirty="0"/>
          </a:p>
        </p:txBody>
      </p:sp>
      <p:sp>
        <p:nvSpPr>
          <p:cNvPr id="10" name="Shape 8"/>
          <p:cNvSpPr/>
          <p:nvPr/>
        </p:nvSpPr>
        <p:spPr>
          <a:xfrm>
            <a:off x="5989320" y="1600200"/>
            <a:ext cx="0" cy="1883664"/>
          </a:xfrm>
          <a:prstGeom prst="line">
            <a:avLst/>
          </a:prstGeom>
          <a:noFill/>
          <a:ln w="13970">
            <a:solidFill>
              <a:srgbClr val="CBD5E1"/>
            </a:solidFill>
            <a:prstDash val="solid"/>
          </a:ln>
        </p:spPr>
      </p:sp>
      <p:sp>
        <p:nvSpPr>
          <p:cNvPr id="11" name="Text 9"/>
          <p:cNvSpPr/>
          <p:nvPr/>
        </p:nvSpPr>
        <p:spPr>
          <a:xfrm>
            <a:off x="685800" y="3986784"/>
            <a:ext cx="2743200" cy="256032"/>
          </a:xfrm>
          <a:prstGeom prst="rect">
            <a:avLst/>
          </a:prstGeom>
          <a:noFill/>
          <a:ln/>
        </p:spPr>
        <p:txBody>
          <a:bodyPr wrap="square" lIns="254" tIns="254" rIns="254" bIns="254" rtlCol="0" anchor="t">
            <a:normAutofit/>
          </a:bodyPr>
          <a:lstStyle/>
          <a:p>
            <a:pPr marL="0" indent="0" algn="l">
              <a:buNone/>
            </a:pPr>
            <a:r>
              <a:rPr lang="en-US" sz="1050" b="1" dirty="0">
                <a:solidFill>
                  <a:srgbClr val="2563EB"/>
                </a:solidFill>
                <a:latin typeface="Noto Sans CJK KR" pitchFamily="34" charset="0"/>
                <a:ea typeface="Noto Sans CJK KR" pitchFamily="34" charset="-122"/>
                <a:cs typeface="Noto Sans CJK KR" pitchFamily="34" charset="-120"/>
              </a:rPr>
              <a:t>운영 시스템으로 확장하려면</a:t>
            </a:r>
            <a:endParaRPr lang="en-US" sz="1050" dirty="0"/>
          </a:p>
        </p:txBody>
      </p:sp>
      <p:sp>
        <p:nvSpPr>
          <p:cNvPr id="12" name="Text 10"/>
          <p:cNvSpPr/>
          <p:nvPr/>
        </p:nvSpPr>
        <p:spPr>
          <a:xfrm>
            <a:off x="868680" y="4526280"/>
            <a:ext cx="2176272" cy="685800"/>
          </a:xfrm>
          <a:prstGeom prst="rect">
            <a:avLst/>
          </a:prstGeom>
          <a:solidFill>
            <a:srgbClr val="EAF2FF"/>
          </a:solidFill>
          <a:ln w="12700">
            <a:solidFill>
              <a:srgbClr val="2563EB"/>
            </a:solidFill>
          </a:ln>
        </p:spPr>
        <p:txBody>
          <a:bodyPr wrap="square" lIns="1016" tIns="1016" rIns="1016" bIns="1016" rtlCol="0" anchor="ctr">
            <a:normAutofit/>
          </a:bodyPr>
          <a:lstStyle/>
          <a:p>
            <a:pPr marL="0" indent="0" algn="ctr">
              <a:buNone/>
            </a:pPr>
            <a:r>
              <a:rPr lang="en-US" sz="1140" b="1" dirty="0">
                <a:solidFill>
                  <a:srgbClr val="14213D"/>
                </a:solidFill>
                <a:latin typeface="Noto Sans CJK KR" pitchFamily="34" charset="0"/>
                <a:ea typeface="Noto Sans CJK KR" pitchFamily="34" charset="-122"/>
                <a:cs typeface="Noto Sans CJK KR" pitchFamily="34" charset="-120"/>
              </a:rPr>
              <a:t>1</a:t>
            </a:r>
            <a:endParaRPr lang="en-US" sz="1140" dirty="0"/>
          </a:p>
          <a:p>
            <a:pPr marL="0" indent="0" algn="ctr">
              <a:buNone/>
            </a:pPr>
            <a:r>
              <a:rPr lang="en-US" sz="1140" b="1" dirty="0">
                <a:solidFill>
                  <a:srgbClr val="14213D"/>
                </a:solidFill>
                <a:latin typeface="Noto Sans CJK KR" pitchFamily="34" charset="0"/>
                <a:ea typeface="Noto Sans CJK KR" pitchFamily="34" charset="-122"/>
                <a:cs typeface="Noto Sans CJK KR" pitchFamily="34" charset="-120"/>
              </a:rPr>
              <a:t>외부 DB·작업 큐</a:t>
            </a:r>
            <a:endParaRPr lang="en-US" sz="1140" dirty="0"/>
          </a:p>
        </p:txBody>
      </p:sp>
      <p:sp>
        <p:nvSpPr>
          <p:cNvPr id="13" name="Shape 11"/>
          <p:cNvSpPr/>
          <p:nvPr/>
        </p:nvSpPr>
        <p:spPr>
          <a:xfrm>
            <a:off x="3154680" y="4864608"/>
            <a:ext cx="164592" cy="0"/>
          </a:xfrm>
          <a:prstGeom prst="line">
            <a:avLst/>
          </a:prstGeom>
          <a:noFill/>
          <a:ln w="13335">
            <a:solidFill>
              <a:srgbClr val="64748B"/>
            </a:solidFill>
            <a:prstDash val="solid"/>
            <a:headEnd type="none"/>
            <a:tailEnd type="triangle"/>
          </a:ln>
        </p:spPr>
      </p:sp>
      <p:sp>
        <p:nvSpPr>
          <p:cNvPr id="14" name="Text 12"/>
          <p:cNvSpPr/>
          <p:nvPr/>
        </p:nvSpPr>
        <p:spPr>
          <a:xfrm>
            <a:off x="3648456" y="4526280"/>
            <a:ext cx="2176272" cy="685800"/>
          </a:xfrm>
          <a:prstGeom prst="rect">
            <a:avLst/>
          </a:prstGeom>
          <a:solidFill>
            <a:srgbClr val="E9FBF7"/>
          </a:solidFill>
          <a:ln w="12700">
            <a:solidFill>
              <a:srgbClr val="14B8A6"/>
            </a:solidFill>
          </a:ln>
        </p:spPr>
        <p:txBody>
          <a:bodyPr wrap="square" lIns="1016" tIns="1016" rIns="1016" bIns="1016" rtlCol="0" anchor="ctr">
            <a:normAutofit/>
          </a:bodyPr>
          <a:lstStyle/>
          <a:p>
            <a:pPr marL="0" indent="0" algn="ctr">
              <a:buNone/>
            </a:pPr>
            <a:r>
              <a:rPr lang="en-US" sz="1140" b="1" dirty="0">
                <a:solidFill>
                  <a:srgbClr val="14213D"/>
                </a:solidFill>
                <a:latin typeface="Noto Sans CJK KR" pitchFamily="34" charset="0"/>
                <a:ea typeface="Noto Sans CJK KR" pitchFamily="34" charset="-122"/>
                <a:cs typeface="Noto Sans CJK KR" pitchFamily="34" charset="-120"/>
              </a:rPr>
              <a:t>2</a:t>
            </a:r>
            <a:endParaRPr lang="en-US" sz="1140" dirty="0"/>
          </a:p>
          <a:p>
            <a:pPr marL="0" indent="0" algn="ctr">
              <a:buNone/>
            </a:pPr>
            <a:r>
              <a:rPr lang="en-US" sz="1140" b="1" dirty="0">
                <a:solidFill>
                  <a:srgbClr val="14213D"/>
                </a:solidFill>
                <a:latin typeface="Noto Sans CJK KR" pitchFamily="34" charset="0"/>
                <a:ea typeface="Noto Sans CJK KR" pitchFamily="34" charset="-122"/>
                <a:cs typeface="Noto Sans CJK KR" pitchFamily="34" charset="-120"/>
              </a:rPr>
              <a:t>담당자 인증·권한</a:t>
            </a:r>
            <a:endParaRPr lang="en-US" sz="1140" dirty="0"/>
          </a:p>
        </p:txBody>
      </p:sp>
      <p:sp>
        <p:nvSpPr>
          <p:cNvPr id="15" name="Shape 13"/>
          <p:cNvSpPr/>
          <p:nvPr/>
        </p:nvSpPr>
        <p:spPr>
          <a:xfrm>
            <a:off x="5934456" y="4864608"/>
            <a:ext cx="164592" cy="0"/>
          </a:xfrm>
          <a:prstGeom prst="line">
            <a:avLst/>
          </a:prstGeom>
          <a:noFill/>
          <a:ln w="13335">
            <a:solidFill>
              <a:srgbClr val="64748B"/>
            </a:solidFill>
            <a:prstDash val="solid"/>
            <a:headEnd type="none"/>
            <a:tailEnd type="triangle"/>
          </a:ln>
        </p:spPr>
      </p:sp>
      <p:sp>
        <p:nvSpPr>
          <p:cNvPr id="16" name="Text 14"/>
          <p:cNvSpPr/>
          <p:nvPr/>
        </p:nvSpPr>
        <p:spPr>
          <a:xfrm>
            <a:off x="6428232" y="4526280"/>
            <a:ext cx="2176272" cy="685800"/>
          </a:xfrm>
          <a:prstGeom prst="rect">
            <a:avLst/>
          </a:prstGeom>
          <a:solidFill>
            <a:srgbClr val="FFF7E6"/>
          </a:solidFill>
          <a:ln w="12700">
            <a:solidFill>
              <a:srgbClr val="F59E0B"/>
            </a:solidFill>
          </a:ln>
        </p:spPr>
        <p:txBody>
          <a:bodyPr wrap="square" lIns="1016" tIns="1016" rIns="1016" bIns="1016" rtlCol="0" anchor="ctr">
            <a:normAutofit/>
          </a:bodyPr>
          <a:lstStyle/>
          <a:p>
            <a:pPr marL="0" indent="0" algn="ctr">
              <a:buNone/>
            </a:pPr>
            <a:r>
              <a:rPr lang="en-US" sz="1140" b="1" dirty="0">
                <a:solidFill>
                  <a:srgbClr val="14213D"/>
                </a:solidFill>
                <a:latin typeface="Noto Sans CJK KR" pitchFamily="34" charset="0"/>
                <a:ea typeface="Noto Sans CJK KR" pitchFamily="34" charset="-122"/>
                <a:cs typeface="Noto Sans CJK KR" pitchFamily="34" charset="-120"/>
              </a:rPr>
              <a:t>3</a:t>
            </a:r>
            <a:endParaRPr lang="en-US" sz="1140" dirty="0"/>
          </a:p>
          <a:p>
            <a:pPr marL="0" indent="0" algn="ctr">
              <a:buNone/>
            </a:pPr>
            <a:r>
              <a:rPr lang="en-US" sz="1140" b="1" dirty="0">
                <a:solidFill>
                  <a:srgbClr val="14213D"/>
                </a:solidFill>
                <a:latin typeface="Noto Sans CJK KR" pitchFamily="34" charset="0"/>
                <a:ea typeface="Noto Sans CJK KR" pitchFamily="34" charset="-122"/>
                <a:cs typeface="Noto Sans CJK KR" pitchFamily="34" charset="-120"/>
              </a:rPr>
              <a:t>규칙 승인·버전관리</a:t>
            </a:r>
            <a:endParaRPr lang="en-US" sz="1140" dirty="0"/>
          </a:p>
        </p:txBody>
      </p:sp>
      <p:sp>
        <p:nvSpPr>
          <p:cNvPr id="17" name="Shape 15"/>
          <p:cNvSpPr/>
          <p:nvPr/>
        </p:nvSpPr>
        <p:spPr>
          <a:xfrm>
            <a:off x="8714232" y="4864608"/>
            <a:ext cx="164592" cy="0"/>
          </a:xfrm>
          <a:prstGeom prst="line">
            <a:avLst/>
          </a:prstGeom>
          <a:noFill/>
          <a:ln w="13335">
            <a:solidFill>
              <a:srgbClr val="64748B"/>
            </a:solidFill>
            <a:prstDash val="solid"/>
            <a:headEnd type="none"/>
            <a:tailEnd type="triangle"/>
          </a:ln>
        </p:spPr>
      </p:sp>
      <p:sp>
        <p:nvSpPr>
          <p:cNvPr id="18" name="Text 16"/>
          <p:cNvSpPr/>
          <p:nvPr/>
        </p:nvSpPr>
        <p:spPr>
          <a:xfrm>
            <a:off x="9208008" y="4526280"/>
            <a:ext cx="2176272" cy="685800"/>
          </a:xfrm>
          <a:prstGeom prst="rect">
            <a:avLst/>
          </a:prstGeom>
          <a:solidFill>
            <a:srgbClr val="FFFFFF"/>
          </a:solidFill>
          <a:ln w="12700">
            <a:solidFill>
              <a:srgbClr val="14213D"/>
            </a:solidFill>
          </a:ln>
        </p:spPr>
        <p:txBody>
          <a:bodyPr wrap="square" lIns="1016" tIns="1016" rIns="1016" bIns="1016" rtlCol="0" anchor="ctr">
            <a:normAutofit/>
          </a:bodyPr>
          <a:lstStyle/>
          <a:p>
            <a:pPr marL="0" indent="0" algn="ctr">
              <a:buNone/>
            </a:pPr>
            <a:r>
              <a:rPr lang="en-US" sz="1140" b="1" dirty="0">
                <a:solidFill>
                  <a:srgbClr val="14213D"/>
                </a:solidFill>
                <a:latin typeface="Noto Sans CJK KR" pitchFamily="34" charset="0"/>
                <a:ea typeface="Noto Sans CJK KR" pitchFamily="34" charset="-122"/>
                <a:cs typeface="Noto Sans CJK KR" pitchFamily="34" charset="-120"/>
              </a:rPr>
              <a:t>4</a:t>
            </a:r>
            <a:endParaRPr lang="en-US" sz="1140" dirty="0"/>
          </a:p>
          <a:p>
            <a:pPr marL="0" indent="0" algn="ctr">
              <a:buNone/>
            </a:pPr>
            <a:r>
              <a:rPr lang="en-US" sz="1140" b="1" dirty="0">
                <a:solidFill>
                  <a:srgbClr val="14213D"/>
                </a:solidFill>
                <a:latin typeface="Noto Sans CJK KR" pitchFamily="34" charset="0"/>
                <a:ea typeface="Noto Sans CJK KR" pitchFamily="34" charset="-122"/>
                <a:cs typeface="Noto Sans CJK KR" pitchFamily="34" charset="-120"/>
              </a:rPr>
              <a:t>오류율·처리시간 측정</a:t>
            </a:r>
            <a:endParaRPr lang="en-US" sz="1140" dirty="0"/>
          </a:p>
        </p:txBody>
      </p:sp>
      <p:sp>
        <p:nvSpPr>
          <p:cNvPr id="19" name="Text 17"/>
          <p:cNvSpPr/>
          <p:nvPr/>
        </p:nvSpPr>
        <p:spPr>
          <a:xfrm>
            <a:off x="822960" y="5797296"/>
            <a:ext cx="10607040" cy="329184"/>
          </a:xfrm>
          <a:prstGeom prst="rect">
            <a:avLst/>
          </a:prstGeom>
          <a:noFill/>
          <a:ln/>
        </p:spPr>
        <p:txBody>
          <a:bodyPr wrap="square" lIns="254" tIns="254" rIns="254" bIns="254" rtlCol="0" anchor="t">
            <a:normAutofit/>
          </a:bodyPr>
          <a:lstStyle/>
          <a:p>
            <a:pPr marL="0" indent="0" algn="ctr">
              <a:buNone/>
            </a:pPr>
            <a:r>
              <a:rPr lang="en-US" sz="1500" b="1" dirty="0">
                <a:solidFill>
                  <a:srgbClr val="14213D"/>
                </a:solidFill>
                <a:latin typeface="Noto Sans CJK KR" pitchFamily="34" charset="0"/>
                <a:ea typeface="Noto Sans CJK KR" pitchFamily="34" charset="-122"/>
                <a:cs typeface="Noto Sans CJK KR" pitchFamily="34" charset="-120"/>
              </a:rPr>
              <a:t>결론적으로 ExamFlow는 모델의 제안 영역과 코드의 책임 영역을 분리해 본 병원 업무 자동화 데모입니다.</a:t>
            </a:r>
            <a:endParaRPr lang="en-US" sz="1500" dirty="0"/>
          </a:p>
        </p:txBody>
      </p:sp>
      <p:sp>
        <p:nvSpPr>
          <p:cNvPr id="20" name="Text 18"/>
          <p:cNvSpPr/>
          <p:nvPr/>
        </p:nvSpPr>
        <p:spPr>
          <a:xfrm>
            <a:off x="10561320" y="6446520"/>
            <a:ext cx="1051560" cy="164592"/>
          </a:xfrm>
          <a:prstGeom prst="rect">
            <a:avLst/>
          </a:prstGeom>
          <a:noFill/>
          <a:ln/>
        </p:spPr>
        <p:txBody>
          <a:bodyPr wrap="square" lIns="0" tIns="0" rIns="0" bIns="0" rtlCol="0" anchor="ctr"/>
          <a:lstStyle/>
          <a:p>
            <a:pPr marL="0" indent="0" algn="r">
              <a:buNone/>
            </a:pPr>
            <a:r>
              <a:rPr lang="en-US" sz="750" dirty="0">
                <a:solidFill>
                  <a:srgbClr val="64748B"/>
                </a:solidFill>
                <a:latin typeface="Noto Sans CJK KR" pitchFamily="34" charset="0"/>
                <a:ea typeface="Noto Sans CJK KR" pitchFamily="34" charset="-122"/>
                <a:cs typeface="Noto Sans CJK KR" pitchFamily="34" charset="-120"/>
              </a:rPr>
              <a:t>ExamFlow · 7/7</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1112</Words>
  <Application>Microsoft Office PowerPoint</Application>
  <PresentationFormat>와이드스크린</PresentationFormat>
  <Paragraphs>169</Paragraphs>
  <Slides>7</Slides>
  <Notes>7</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vt:i4>
      </vt:variant>
    </vt:vector>
  </HeadingPairs>
  <TitlesOfParts>
    <vt:vector size="11" baseType="lpstr">
      <vt:lpstr>Noto Sans CJK KR</vt:lpstr>
      <vt:lpstr>맑은 고딕</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ExamFlow 발표자료</dc:title>
  <dc:subject>ExamFlow 5분 발표자료</dc:subject>
  <dc:creator>손범준</dc:creator>
  <cp:lastModifiedBy>손범준</cp:lastModifiedBy>
  <cp:revision>2</cp:revision>
  <dcterms:created xsi:type="dcterms:W3CDTF">2026-09-13T12:38:18Z</dcterms:created>
  <dcterms:modified xsi:type="dcterms:W3CDTF">2026-09-13T12:58:24Z</dcterms:modified>
</cp:coreProperties>
</file>